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71" r:id="rId12"/>
    <p:sldId id="268" r:id="rId13"/>
    <p:sldId id="267" r:id="rId14"/>
    <p:sldId id="270" r:id="rId15"/>
    <p:sldId id="269" r:id="rId16"/>
    <p:sldId id="274" r:id="rId1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90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F15898-76B3-405F-83BA-F0133A1F8BB9}" type="datetimeFigureOut">
              <a:rPr lang="zh-CN" altLang="en-US" smtClean="0"/>
              <a:t>2026-04-14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D44FC7-4B2E-4896-8D8B-E055E82D66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126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看看AdvectionSolver中的一些关键数据结构。tmp_和tmp2_是两个临时缓冲区，分别用于平流和扩散计算。它们的作用是在计算新的浓度值时，避免覆盖还需要使用的旧值，保证了计算的正确性。而idx函数是一个非常实用的辅助工具，它将二维的网格坐标转换为一维的数组索引，因为在计算机内存中，我们通常用一维数组来存储二维数据。这个小小的函数让我们的代码更加简洁和高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AdvectionSolver是程序的数值计算模块，它实现了烟雾运动的两个核心物理过程。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首先是平流，也就是烟雾被风吹走。这里我们使用了迎风格式，简单来说，就是根据风的方向，从风来的方向（上风侧）获取浓度值来更新当前点，这样可以保证计算的稳定性。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其次是扩散，模拟烟雾分子的无规则运动，使烟雾逐渐散开。这里我们使用了拉普拉斯算子，它会计算每个点与周围点的浓度差，从而使高浓度区域向低浓度区域扩散，最终让整个烟雾分布变得平滑。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看看MainWindow中的几个关键成员变量。首先是controller_，它是整个仿真系统的大脑，所有计算请求都由它处理。然后是view_，这是我们看到的热力图窗口，负责将计算结果可视化。windRows_是一个容器，用来存储用户添加的所有风参数，这使得我们可以模拟复杂的风场环境。最后是resultantLabel_，它实时显示当前所有风叠加后的最终效果，为用户提供直观的反馈。这四个组件共同构成了界面与仿真系统之间的桥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首先来看MainWindow，它是程序的界面控制层。用户的所有操作，比如调整风速，都会被MainWindow捕获。它接收到参数后，并不会自己进行计算，而是将任务交给仿真控制器。控制器完成计算后，再将结果交给热力图窗口进行显示。这个流程构成了程序的核心交互循环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具体来说，MainWindow的构造函数在启动时做了大量初始化工作，包括创建UI、初始化仿真系统，并建立它们之间的连接。而syncControllerFromUi函数则负责将用户在界面上的修改实时同步到仿真系统中，确保计算的准确性。最后，updateResultantLabel函数负责将计算出的合成风结果反馈到界面上，让用户直观地看到系统的运行状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再深入看一下SimulationController内部的核心组件。smoke_对象保存了整个模拟世界的状态，也就是烟雾浓度的分布。solver_是计算引擎，负责执行具体的平流和扩散算法。winds_数组管理着所有的风场设置，允许多风叠加。view_是通往显示界面的桥梁，计算结果通过它呈现给用户。最后，timer_就像一个心脏起搏器，不断地触发仿真循环，让时间前进。这五个成员变量共同构成了仿真控制器的核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现在我们进入程序的核心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——SimulationController。它的setup函数在程序启动时搭建好了整个仿真舞台，包括烟雾网格、求解器和初始的烟囱与风。start和pause函数通过一个定时器来控制仿真的启停。而整个程序的心脏是tick函数，它在仿真运行时被不断调用。在每一帧中，tick函数会计算物理上的时间步长，获取当前的风速，让烟囱释放烟雾，然后调用数值求解器进行平流和扩散计算，最后更新时间并将结果渲染到屏幕上。这个循环构成了我们看到的动态烟雾效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我的讲解到此结束。我们从界面到核心算法，完整地剖析了这个烟雾扩散仿真程序。希望这次分享能帮助大家对图形仿真编程有更深的理解。现在是问答环节，欢迎大家提问交流。谢谢大家！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7B7D6-0D80-4439-85C1-C0A7011E0B80}" type="datetime1">
              <a:rPr lang="en-US" altLang="zh-CN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60F4-7C13-4C0D-8CFB-244DBB2F16D6}" type="datetime1">
              <a:rPr lang="en-US" altLang="zh-CN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C5FC8-F0B1-4A52-A94C-6E85930AFA94}" type="datetime1">
              <a:rPr lang="en-US" altLang="zh-CN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3084-C7F6-4050-A523-51C2EF7A804F}" type="datetime1">
              <a:rPr lang="en-US" altLang="zh-CN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5B924-2C0C-42C8-A771-9CDBAA3E86FE}" type="datetime1">
              <a:rPr lang="en-US" altLang="zh-CN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335C5-60B2-4FC8-A69C-A65D8746333E}" type="datetime1">
              <a:rPr lang="en-US" altLang="zh-CN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8B305-E87E-4451-A75F-688EF1ADC78C}" type="datetime1">
              <a:rPr lang="en-US" altLang="zh-CN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F9F13-3BD7-4638-92A3-02736D2FACEE}" type="datetime1">
              <a:rPr lang="en-US" altLang="zh-CN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DD0A5-B290-49FD-97E9-B968F094623E}" type="datetime1">
              <a:rPr lang="en-US" altLang="zh-CN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6D89-2918-40BA-9896-4BD65E99A818}" type="datetime1">
              <a:rPr lang="en-US" altLang="zh-CN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CE46D-7D05-4D2B-97B3-F5FA31AA6716}" type="datetime1">
              <a:rPr lang="en-US" altLang="zh-CN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440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BF045-6B4B-49CE-9815-755898892DFF}" type="datetime1">
              <a:rPr lang="en-US" altLang="zh-CN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40.png"/><Relationship Id="rId7" Type="http://schemas.openxmlformats.org/officeDocument/2006/relationships/image" Target="../media/image42.png"/><Relationship Id="rId12" Type="http://schemas.openxmlformats.org/officeDocument/2006/relationships/image" Target="../media/image4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svg"/><Relationship Id="rId11" Type="http://schemas.openxmlformats.org/officeDocument/2006/relationships/image" Target="../media/image46.png"/><Relationship Id="rId5" Type="http://schemas.openxmlformats.org/officeDocument/2006/relationships/image" Target="../media/image26.png"/><Relationship Id="rId10" Type="http://schemas.openxmlformats.org/officeDocument/2006/relationships/image" Target="../media/image45.svg"/><Relationship Id="rId4" Type="http://schemas.openxmlformats.org/officeDocument/2006/relationships/image" Target="../media/image41.svg"/><Relationship Id="rId9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62" r="-4162" b="-847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862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562600" y="860695"/>
            <a:ext cx="13622308" cy="136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61"/>
              </a:lnSpc>
              <a:spcBef>
                <a:spcPct val="0"/>
              </a:spcBef>
            </a:pPr>
            <a:r>
              <a:rPr lang="en-US" sz="846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PANACHE DE FUMÉE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07640AED-CDBA-4BD9-81BB-745DCD264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E61367C-FC35-41A6-A0DA-74285D565B98}"/>
              </a:ext>
            </a:extLst>
          </p:cNvPr>
          <p:cNvSpPr txBox="1"/>
          <p:nvPr/>
        </p:nvSpPr>
        <p:spPr>
          <a:xfrm>
            <a:off x="12763500" y="4762500"/>
            <a:ext cx="46863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altLang="zh-CN" sz="3200" dirty="0">
                <a:solidFill>
                  <a:schemeClr val="bg1"/>
                </a:solidFill>
              </a:rPr>
              <a:t>Membre d’équipe:</a:t>
            </a:r>
          </a:p>
          <a:p>
            <a:r>
              <a:rPr lang="fr-CA" altLang="zh-CN" sz="3200" dirty="0">
                <a:solidFill>
                  <a:schemeClr val="bg1"/>
                </a:solidFill>
              </a:rPr>
              <a:t>ZHANG Zhihao</a:t>
            </a:r>
          </a:p>
          <a:p>
            <a:r>
              <a:rPr lang="fr-CA" altLang="zh-CN" sz="3200" dirty="0">
                <a:solidFill>
                  <a:schemeClr val="bg1"/>
                </a:solidFill>
              </a:rPr>
              <a:t>Kim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7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31920" y="2597025"/>
            <a:ext cx="3867003" cy="386700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38996" r="-3899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282369" y="6672595"/>
            <a:ext cx="648859" cy="648859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78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576559" y="6672595"/>
            <a:ext cx="648859" cy="648859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78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2545" y="6672595"/>
            <a:ext cx="648859" cy="648859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78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957882" y="734731"/>
            <a:ext cx="12980613" cy="1010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71"/>
              </a:lnSpc>
            </a:pPr>
            <a:r>
              <a:rPr lang="en-US" sz="7215" b="1" spc="43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57882" y="6547545"/>
            <a:ext cx="3724412" cy="917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3502" b="1" spc="-10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Le phénomène physique étudié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59889" y="6569434"/>
            <a:ext cx="3717540" cy="1257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78"/>
              </a:lnSpc>
              <a:spcBef>
                <a:spcPct val="0"/>
              </a:spcBef>
            </a:pPr>
            <a:r>
              <a:rPr lang="en-US" altLang="zh-CN" sz="36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Le </a:t>
            </a:r>
            <a:r>
              <a:rPr lang="en-US" altLang="zh-CN" sz="3600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modèle</a:t>
            </a:r>
            <a:r>
              <a:rPr lang="en-US" altLang="zh-CN" sz="36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altLang="zh-CN" sz="3600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mathématique</a:t>
            </a:r>
            <a:r>
              <a:rPr lang="en-US" altLang="zh-CN" sz="36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altLang="zh-CN" sz="3600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choisi</a:t>
            </a:r>
            <a:endParaRPr lang="en-US" altLang="zh-CN" sz="3600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44378" y="6789970"/>
            <a:ext cx="305193" cy="390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55"/>
              </a:lnSpc>
              <a:spcBef>
                <a:spcPct val="0"/>
              </a:spcBef>
            </a:pPr>
            <a:r>
              <a:rPr lang="en-US" sz="2273" spc="22">
                <a:solidFill>
                  <a:srgbClr val="314763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54202" y="6789970"/>
            <a:ext cx="305193" cy="390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55"/>
              </a:lnSpc>
              <a:spcBef>
                <a:spcPct val="0"/>
              </a:spcBef>
            </a:pPr>
            <a:r>
              <a:rPr lang="en-US" sz="2273" spc="22">
                <a:solidFill>
                  <a:srgbClr val="314763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61896" y="6547545"/>
            <a:ext cx="4159676" cy="917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3502" b="1" spc="-10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Passage du modèle au code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748392" y="6789970"/>
            <a:ext cx="305193" cy="390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55"/>
              </a:lnSpc>
              <a:spcBef>
                <a:spcPct val="0"/>
              </a:spcBef>
            </a:pPr>
            <a:r>
              <a:rPr lang="en-US" sz="2273" spc="22">
                <a:solidFill>
                  <a:srgbClr val="314763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  <p:sp>
        <p:nvSpPr>
          <p:cNvPr id="21" name="灯片编号占位符 20">
            <a:extLst>
              <a:ext uri="{FF2B5EF4-FFF2-40B4-BE49-F238E27FC236}">
                <a16:creationId xmlns:a16="http://schemas.microsoft.com/office/drawing/2014/main" id="{59F78766-5E1F-4498-894B-E00FD472B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7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420997" y="1830654"/>
            <a:ext cx="3867003" cy="386700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38996" r="-3899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282369" y="6672595"/>
            <a:ext cx="648859" cy="648859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78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576559" y="6672595"/>
            <a:ext cx="648859" cy="648859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78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2545" y="6672595"/>
            <a:ext cx="648859" cy="648859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78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28771" y="566210"/>
            <a:ext cx="16703157" cy="1010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71"/>
              </a:lnSpc>
            </a:pPr>
            <a:r>
              <a:rPr lang="en-US" sz="7215" b="1" spc="43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Le phénomène physique étudié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57882" y="6547545"/>
            <a:ext cx="3384933" cy="1345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3502" b="1" spc="-10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La fumée se propage dans l’air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59889" y="6355122"/>
            <a:ext cx="3408044" cy="1345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3502" b="1" spc="-10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Le vent influence sa direction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4378" y="6789970"/>
            <a:ext cx="305193" cy="390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55"/>
              </a:lnSpc>
              <a:spcBef>
                <a:spcPct val="0"/>
              </a:spcBef>
            </a:pPr>
            <a:r>
              <a:rPr lang="en-US" sz="2273" spc="22">
                <a:solidFill>
                  <a:srgbClr val="314763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54202" y="6789970"/>
            <a:ext cx="305193" cy="390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55"/>
              </a:lnSpc>
              <a:spcBef>
                <a:spcPct val="0"/>
              </a:spcBef>
            </a:pPr>
            <a:r>
              <a:rPr lang="en-US" sz="2273" spc="22">
                <a:solidFill>
                  <a:srgbClr val="314763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27898" y="6343252"/>
            <a:ext cx="4528123" cy="1345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3502" b="1" spc="-10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La concentration de fumée varie selon la position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748392" y="6789970"/>
            <a:ext cx="305193" cy="390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55"/>
              </a:lnSpc>
              <a:spcBef>
                <a:spcPct val="0"/>
              </a:spcBef>
            </a:pPr>
            <a:r>
              <a:rPr lang="en-US" sz="2273" spc="22">
                <a:solidFill>
                  <a:srgbClr val="314763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262563" y="9210675"/>
            <a:ext cx="145874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fr-CA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lang="en-US" sz="20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" name="灯片编号占位符 20">
            <a:extLst>
              <a:ext uri="{FF2B5EF4-FFF2-40B4-BE49-F238E27FC236}">
                <a16:creationId xmlns:a16="http://schemas.microsoft.com/office/drawing/2014/main" id="{EACCBDE8-3D71-4CF9-8C75-FD1FD2195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7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502972"/>
            <a:ext cx="5723797" cy="3219636"/>
            <a:chOff x="0" y="0"/>
            <a:chExt cx="4814227" cy="27080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4227" cy="2708003"/>
            </a:xfrm>
            <a:custGeom>
              <a:avLst/>
              <a:gdLst/>
              <a:ahLst/>
              <a:cxnLst/>
              <a:rect l="l" t="t" r="r" b="b"/>
              <a:pathLst>
                <a:path w="4814227" h="2708003">
                  <a:moveTo>
                    <a:pt x="0" y="0"/>
                  </a:moveTo>
                  <a:lnTo>
                    <a:pt x="4814227" y="0"/>
                  </a:lnTo>
                  <a:lnTo>
                    <a:pt x="4814227" y="2708003"/>
                  </a:lnTo>
                  <a:lnTo>
                    <a:pt x="0" y="2708003"/>
                  </a:lnTo>
                  <a:close/>
                </a:path>
              </a:pathLst>
            </a:custGeom>
            <a:blipFill>
              <a:blip r:embed="rId2"/>
              <a:stretch>
                <a:fillRect t="-9313" b="-9313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3051608" y="877039"/>
            <a:ext cx="11301259" cy="1935341"/>
          </a:xfrm>
          <a:custGeom>
            <a:avLst/>
            <a:gdLst/>
            <a:ahLst/>
            <a:cxnLst/>
            <a:rect l="l" t="t" r="r" b="b"/>
            <a:pathLst>
              <a:path w="11301259" h="1935341">
                <a:moveTo>
                  <a:pt x="0" y="0"/>
                </a:moveTo>
                <a:lnTo>
                  <a:pt x="11301259" y="0"/>
                </a:lnTo>
                <a:lnTo>
                  <a:pt x="11301259" y="1935341"/>
                </a:lnTo>
                <a:lnTo>
                  <a:pt x="0" y="19353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918156" y="1115578"/>
            <a:ext cx="3369844" cy="1458263"/>
          </a:xfrm>
          <a:custGeom>
            <a:avLst/>
            <a:gdLst/>
            <a:ahLst/>
            <a:cxnLst/>
            <a:rect l="l" t="t" r="r" b="b"/>
            <a:pathLst>
              <a:path w="3369844" h="1458263">
                <a:moveTo>
                  <a:pt x="0" y="0"/>
                </a:moveTo>
                <a:lnTo>
                  <a:pt x="3369844" y="0"/>
                </a:lnTo>
                <a:lnTo>
                  <a:pt x="3369844" y="1458263"/>
                </a:lnTo>
                <a:lnTo>
                  <a:pt x="0" y="14582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893115" y="3642117"/>
            <a:ext cx="3591681" cy="6225942"/>
          </a:xfrm>
          <a:custGeom>
            <a:avLst/>
            <a:gdLst/>
            <a:ahLst/>
            <a:cxnLst/>
            <a:rect l="l" t="t" r="r" b="b"/>
            <a:pathLst>
              <a:path w="3591681" h="6225942">
                <a:moveTo>
                  <a:pt x="0" y="0"/>
                </a:moveTo>
                <a:lnTo>
                  <a:pt x="3591681" y="0"/>
                </a:lnTo>
                <a:lnTo>
                  <a:pt x="3591681" y="6225942"/>
                </a:lnTo>
                <a:lnTo>
                  <a:pt x="0" y="62259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104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056421" y="3642117"/>
            <a:ext cx="6188926" cy="6248029"/>
          </a:xfrm>
          <a:custGeom>
            <a:avLst/>
            <a:gdLst/>
            <a:ahLst/>
            <a:cxnLst/>
            <a:rect l="l" t="t" r="r" b="b"/>
            <a:pathLst>
              <a:path w="6188926" h="6248029">
                <a:moveTo>
                  <a:pt x="0" y="0"/>
                </a:moveTo>
                <a:lnTo>
                  <a:pt x="6188927" y="0"/>
                </a:lnTo>
                <a:lnTo>
                  <a:pt x="6188927" y="6248029"/>
                </a:lnTo>
                <a:lnTo>
                  <a:pt x="0" y="62480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2466808" y="3045569"/>
            <a:ext cx="2560677" cy="809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8"/>
              </a:lnSpc>
              <a:spcBef>
                <a:spcPct val="0"/>
              </a:spcBef>
            </a:pPr>
            <a:r>
              <a:rPr lang="en-US" sz="227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Carte de contour </a:t>
            </a:r>
          </a:p>
          <a:p>
            <a:pPr algn="ctr">
              <a:lnSpc>
                <a:spcPts val="3178"/>
              </a:lnSpc>
              <a:spcBef>
                <a:spcPct val="0"/>
              </a:spcBef>
            </a:pPr>
            <a:endParaRPr lang="en-US" sz="2270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675674" y="3045569"/>
            <a:ext cx="2026563" cy="409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8"/>
              </a:lnSpc>
              <a:spcBef>
                <a:spcPct val="0"/>
              </a:spcBef>
            </a:pPr>
            <a:r>
              <a:rPr lang="en-US" sz="227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Graphique 3D</a:t>
            </a:r>
          </a:p>
        </p:txBody>
      </p:sp>
      <p:sp>
        <p:nvSpPr>
          <p:cNvPr id="10" name="Freeform 10"/>
          <p:cNvSpPr/>
          <p:nvPr/>
        </p:nvSpPr>
        <p:spPr>
          <a:xfrm>
            <a:off x="9151004" y="9680676"/>
            <a:ext cx="2388591" cy="418941"/>
          </a:xfrm>
          <a:custGeom>
            <a:avLst/>
            <a:gdLst/>
            <a:ahLst/>
            <a:cxnLst/>
            <a:rect l="l" t="t" r="r" b="b"/>
            <a:pathLst>
              <a:path w="2388591" h="418941">
                <a:moveTo>
                  <a:pt x="0" y="0"/>
                </a:moveTo>
                <a:lnTo>
                  <a:pt x="2388591" y="0"/>
                </a:lnTo>
                <a:lnTo>
                  <a:pt x="2388591" y="418941"/>
                </a:lnTo>
                <a:lnTo>
                  <a:pt x="0" y="4189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675674" y="277475"/>
            <a:ext cx="3669625" cy="409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8"/>
              </a:lnSpc>
              <a:spcBef>
                <a:spcPct val="0"/>
              </a:spcBef>
            </a:pPr>
            <a:r>
              <a:rPr lang="en-US" sz="227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Une fonction gaussienne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62563" y="9210675"/>
            <a:ext cx="145874" cy="694614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endParaRPr lang="en-US" sz="20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96352" y="277475"/>
            <a:ext cx="4767144" cy="409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8"/>
              </a:lnSpc>
              <a:spcBef>
                <a:spcPct val="0"/>
              </a:spcBef>
            </a:pPr>
            <a:r>
              <a:rPr lang="en-US" sz="227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Le </a:t>
            </a:r>
            <a:r>
              <a:rPr lang="en-US" sz="2270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modèle</a:t>
            </a:r>
            <a:r>
              <a:rPr lang="en-US" sz="227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270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mathématique</a:t>
            </a:r>
            <a:r>
              <a:rPr lang="en-US" sz="227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270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choisi</a:t>
            </a:r>
            <a:endParaRPr lang="en-US" sz="2270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B5AEB60C-301B-4ABB-A8A9-B1773250C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7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36" y="6235646"/>
            <a:ext cx="18272564" cy="4051354"/>
            <a:chOff x="0" y="0"/>
            <a:chExt cx="2830898" cy="62766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30898" cy="627661"/>
            </a:xfrm>
            <a:custGeom>
              <a:avLst/>
              <a:gdLst/>
              <a:ahLst/>
              <a:cxnLst/>
              <a:rect l="l" t="t" r="r" b="b"/>
              <a:pathLst>
                <a:path w="2830898" h="627661">
                  <a:moveTo>
                    <a:pt x="0" y="0"/>
                  </a:moveTo>
                  <a:lnTo>
                    <a:pt x="2830898" y="0"/>
                  </a:lnTo>
                  <a:lnTo>
                    <a:pt x="2830898" y="627661"/>
                  </a:lnTo>
                  <a:lnTo>
                    <a:pt x="0" y="627661"/>
                  </a:lnTo>
                  <a:close/>
                </a:path>
              </a:pathLst>
            </a:custGeom>
            <a:blipFill>
              <a:blip r:embed="rId2"/>
              <a:stretch>
                <a:fillRect t="-64570" b="-136385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81075" y="862286"/>
            <a:ext cx="9483940" cy="854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07"/>
              </a:lnSpc>
            </a:pPr>
            <a:r>
              <a:rPr lang="en-US" sz="5300" b="1" spc="-15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Passage du modèle au code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50544" y="2933232"/>
            <a:ext cx="4246163" cy="1342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8"/>
              </a:lnSpc>
              <a:spcBef>
                <a:spcPct val="0"/>
              </a:spcBef>
            </a:pPr>
            <a:r>
              <a:rPr lang="en-US" sz="377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a) Discrétisation de l’espace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73415" y="2933232"/>
            <a:ext cx="4306204" cy="1342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8"/>
              </a:lnSpc>
              <a:spcBef>
                <a:spcPct val="0"/>
              </a:spcBef>
            </a:pPr>
            <a:r>
              <a:rPr lang="en-US" sz="377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b) Calcul de la concentration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79619" y="2933232"/>
            <a:ext cx="4501635" cy="1342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8"/>
              </a:lnSpc>
              <a:spcBef>
                <a:spcPct val="0"/>
              </a:spcBef>
            </a:pPr>
            <a:r>
              <a:rPr lang="en-US" sz="377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c) Mise à jour du champ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62563" y="9210675"/>
            <a:ext cx="145874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350045" y="2933232"/>
            <a:ext cx="3622167" cy="1342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8"/>
              </a:lnSpc>
              <a:spcBef>
                <a:spcPct val="0"/>
              </a:spcBef>
            </a:pPr>
            <a:r>
              <a:rPr lang="en-US" sz="377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d) Lien avec l’affichage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0009F3E2-7DE8-4383-93B5-449981C7A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7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99210" y="871377"/>
            <a:ext cx="10640242" cy="4854604"/>
          </a:xfrm>
          <a:custGeom>
            <a:avLst/>
            <a:gdLst/>
            <a:ahLst/>
            <a:cxnLst/>
            <a:rect l="l" t="t" r="r" b="b"/>
            <a:pathLst>
              <a:path w="10640242" h="4854604">
                <a:moveTo>
                  <a:pt x="0" y="0"/>
                </a:moveTo>
                <a:lnTo>
                  <a:pt x="10640242" y="0"/>
                </a:lnTo>
                <a:lnTo>
                  <a:pt x="10640242" y="4854603"/>
                </a:lnTo>
                <a:lnTo>
                  <a:pt x="0" y="48546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8" b="-143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682344" y="5725980"/>
            <a:ext cx="10673974" cy="4297314"/>
          </a:xfrm>
          <a:custGeom>
            <a:avLst/>
            <a:gdLst/>
            <a:ahLst/>
            <a:cxnLst/>
            <a:rect l="l" t="t" r="r" b="b"/>
            <a:pathLst>
              <a:path w="10673974" h="4297314">
                <a:moveTo>
                  <a:pt x="0" y="0"/>
                </a:moveTo>
                <a:lnTo>
                  <a:pt x="10673974" y="0"/>
                </a:lnTo>
                <a:lnTo>
                  <a:pt x="10673974" y="4297315"/>
                </a:lnTo>
                <a:lnTo>
                  <a:pt x="0" y="42973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262562" y="9210675"/>
            <a:ext cx="145874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0824" y="179557"/>
            <a:ext cx="5955758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a) Discrétisation de l’espace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F77941-7161-44A4-8564-8B36869CC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7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88527" y="2259269"/>
            <a:ext cx="14794629" cy="6179799"/>
          </a:xfrm>
          <a:custGeom>
            <a:avLst/>
            <a:gdLst/>
            <a:ahLst/>
            <a:cxnLst/>
            <a:rect l="l" t="t" r="r" b="b"/>
            <a:pathLst>
              <a:path w="14794629" h="6179799">
                <a:moveTo>
                  <a:pt x="0" y="0"/>
                </a:moveTo>
                <a:lnTo>
                  <a:pt x="14794629" y="0"/>
                </a:lnTo>
                <a:lnTo>
                  <a:pt x="14794629" y="6179798"/>
                </a:lnTo>
                <a:lnTo>
                  <a:pt x="0" y="61797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5" r="-32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7262563" y="9210675"/>
            <a:ext cx="145874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60588" y="54371"/>
            <a:ext cx="6299024" cy="952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b) Calcul de la concentration</a:t>
            </a:r>
          </a:p>
          <a:p>
            <a:pPr algn="l">
              <a:lnSpc>
                <a:spcPts val="3198"/>
              </a:lnSpc>
              <a:spcBef>
                <a:spcPct val="0"/>
              </a:spcBef>
            </a:pPr>
            <a:endParaRPr lang="en-US" sz="3000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D930C7-465A-49B3-A82B-CE6009EFA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7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905000" y="1409699"/>
            <a:ext cx="14325600" cy="7800975"/>
          </a:xfrm>
          <a:custGeom>
            <a:avLst/>
            <a:gdLst/>
            <a:ahLst/>
            <a:cxnLst/>
            <a:rect l="l" t="t" r="r" b="b"/>
            <a:pathLst>
              <a:path w="10797570" h="5083164">
                <a:moveTo>
                  <a:pt x="0" y="0"/>
                </a:moveTo>
                <a:lnTo>
                  <a:pt x="10797570" y="0"/>
                </a:lnTo>
                <a:lnTo>
                  <a:pt x="10797570" y="5083164"/>
                </a:lnTo>
                <a:lnTo>
                  <a:pt x="0" y="50831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262562" y="9210675"/>
            <a:ext cx="145874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80602" y="-85725"/>
            <a:ext cx="514517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c) Mise à jour du champ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2D8C28-BF13-4687-BD2F-A814FA377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47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732122" y="1361633"/>
            <a:ext cx="11301259" cy="1652809"/>
          </a:xfrm>
          <a:custGeom>
            <a:avLst/>
            <a:gdLst/>
            <a:ahLst/>
            <a:cxnLst/>
            <a:rect l="l" t="t" r="r" b="b"/>
            <a:pathLst>
              <a:path w="11301259" h="1652809">
                <a:moveTo>
                  <a:pt x="0" y="0"/>
                </a:moveTo>
                <a:lnTo>
                  <a:pt x="11301259" y="0"/>
                </a:lnTo>
                <a:lnTo>
                  <a:pt x="11301259" y="1652809"/>
                </a:lnTo>
                <a:lnTo>
                  <a:pt x="0" y="16528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732122" y="4033685"/>
            <a:ext cx="11117531" cy="4458983"/>
          </a:xfrm>
          <a:custGeom>
            <a:avLst/>
            <a:gdLst/>
            <a:ahLst/>
            <a:cxnLst/>
            <a:rect l="l" t="t" r="r" b="b"/>
            <a:pathLst>
              <a:path w="11117531" h="4458983">
                <a:moveTo>
                  <a:pt x="0" y="0"/>
                </a:moveTo>
                <a:lnTo>
                  <a:pt x="11117532" y="0"/>
                </a:lnTo>
                <a:lnTo>
                  <a:pt x="11117532" y="4458983"/>
                </a:lnTo>
                <a:lnTo>
                  <a:pt x="0" y="44589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262563" y="9210675"/>
            <a:ext cx="145874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22739" y="253246"/>
            <a:ext cx="5336767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d) Lien avec l’affichage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E06E08-8C8E-4540-8B2C-3ACF52774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028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5250" tIns="95250" rIns="95250" bIns="95250" rtlCol="0" anchor="ctr"/>
          <a:lstStyle/>
          <a:p>
            <a:pPr algn="ctr">
              <a:defRPr/>
            </a:pPr>
            <a:endParaRPr sz="2700" dirty="0"/>
          </a:p>
        </p:txBody>
      </p:sp>
      <p:sp>
        <p:nvSpPr>
          <p:cNvPr id="3" name="AutoShape 3"/>
          <p:cNvSpPr/>
          <p:nvPr/>
        </p:nvSpPr>
        <p:spPr>
          <a:xfrm>
            <a:off x="1143000" y="952500"/>
            <a:ext cx="160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Variables </a:t>
            </a:r>
            <a:r>
              <a:rPr lang="en-US" sz="3600" b="1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Membres</a:t>
            </a:r>
            <a:r>
              <a:rPr lang="en-US" sz="3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3600" b="1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Clés</a:t>
            </a:r>
            <a:r>
              <a:rPr lang="en-US" sz="3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de </a:t>
            </a:r>
            <a:r>
              <a:rPr lang="en-US" sz="3600" b="1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AdvectionSolver</a:t>
            </a:r>
            <a:r>
              <a:rPr lang="en-US" sz="3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: Structures de </a:t>
            </a:r>
            <a:r>
              <a:rPr lang="en-US" sz="3600" b="1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Données</a:t>
            </a:r>
            <a:r>
              <a:rPr lang="en-US" sz="3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Core dans le </a:t>
            </a:r>
            <a:r>
              <a:rPr lang="en-US" sz="3600" b="1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Solveur</a:t>
            </a:r>
            <a:r>
              <a:rPr lang="en-US" sz="3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Numérique</a:t>
            </a:r>
            <a:endParaRPr lang="en-US" sz="1650" dirty="0"/>
          </a:p>
        </p:txBody>
      </p:sp>
      <p:sp>
        <p:nvSpPr>
          <p:cNvPr id="4" name="AutoShape 4"/>
          <p:cNvSpPr/>
          <p:nvPr/>
        </p:nvSpPr>
        <p:spPr>
          <a:xfrm>
            <a:off x="1143000" y="2476500"/>
            <a:ext cx="4953000" cy="685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95250" tIns="95250" rIns="95250" bIns="95250" rtlCol="0" anchor="ctr"/>
          <a:lstStyle/>
          <a:p>
            <a:pPr algn="ctr">
              <a:defRPr/>
            </a:pPr>
            <a:endParaRPr sz="2700"/>
          </a:p>
        </p:txBody>
      </p:sp>
      <p:sp>
        <p:nvSpPr>
          <p:cNvPr id="5" name="AutoShape 5"/>
          <p:cNvSpPr/>
          <p:nvPr/>
        </p:nvSpPr>
        <p:spPr>
          <a:xfrm>
            <a:off x="1524000" y="2857500"/>
            <a:ext cx="914400" cy="914400"/>
          </a:xfrm>
          <a:prstGeom prst="ellipse">
            <a:avLst/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5250" tIns="95250" rIns="95250" bIns="95250" rtlCol="0" anchor="ctr"/>
          <a:lstStyle/>
          <a:p>
            <a:pPr algn="ctr">
              <a:defRPr/>
            </a:pPr>
            <a:endParaRPr sz="27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14500" y="3048000"/>
            <a:ext cx="533400" cy="533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667000" y="3009900"/>
            <a:ext cx="304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4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Buffer d'Advection</a:t>
            </a:r>
            <a:endParaRPr lang="en-US" sz="1650"/>
          </a:p>
        </p:txBody>
      </p:sp>
      <p:sp>
        <p:nvSpPr>
          <p:cNvPr id="8" name="AutoShape 8"/>
          <p:cNvSpPr/>
          <p:nvPr/>
        </p:nvSpPr>
        <p:spPr>
          <a:xfrm>
            <a:off x="1524000" y="4000500"/>
            <a:ext cx="419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950" b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std::vector&lt;float&gt; tmp_</a:t>
            </a:r>
            <a:endParaRPr lang="en-US" sz="1650"/>
          </a:p>
        </p:txBody>
      </p:sp>
      <p:sp>
        <p:nvSpPr>
          <p:cNvPr id="9" name="AutoShape 9"/>
          <p:cNvSpPr/>
          <p:nvPr/>
        </p:nvSpPr>
        <p:spPr>
          <a:xfrm>
            <a:off x="1524000" y="4953000"/>
            <a:ext cx="4191000" cy="1905000"/>
          </a:xfrm>
          <a:prstGeom prst="roundRect">
            <a:avLst>
              <a:gd name="adj" fmla="val 8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sp>
        <p:nvSpPr>
          <p:cNvPr id="10" name="AutoShape 10"/>
          <p:cNvSpPr/>
          <p:nvPr/>
        </p:nvSpPr>
        <p:spPr>
          <a:xfrm>
            <a:off x="1809750" y="5143500"/>
            <a:ext cx="361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5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核心用途</a:t>
            </a:r>
            <a:endParaRPr lang="en-US" sz="1650"/>
          </a:p>
        </p:txBody>
      </p:sp>
      <p:sp>
        <p:nvSpPr>
          <p:cNvPr id="11" name="AutoShape 11"/>
          <p:cNvSpPr/>
          <p:nvPr/>
        </p:nvSpPr>
        <p:spPr>
          <a:xfrm>
            <a:off x="1809750" y="5619750"/>
            <a:ext cx="361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35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Tableau de stockage temporaire utilisé lors du calcul d'advection `stepUpwind()`.</a:t>
            </a:r>
            <a:endParaRPr lang="en-US" sz="1650"/>
          </a:p>
        </p:txBody>
      </p:sp>
      <p:sp>
        <p:nvSpPr>
          <p:cNvPr id="12" name="AutoShape 12"/>
          <p:cNvSpPr/>
          <p:nvPr/>
        </p:nvSpPr>
        <p:spPr>
          <a:xfrm>
            <a:off x="1524000" y="7239000"/>
            <a:ext cx="4191000" cy="2095500"/>
          </a:xfrm>
          <a:prstGeom prst="roundRect">
            <a:avLst>
              <a:gd name="adj" fmla="val 7272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sp>
        <p:nvSpPr>
          <p:cNvPr id="13" name="AutoShape 13"/>
          <p:cNvSpPr/>
          <p:nvPr/>
        </p:nvSpPr>
        <p:spPr>
          <a:xfrm>
            <a:off x="1809750" y="7429500"/>
            <a:ext cx="361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5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✨ 设计意义</a:t>
            </a:r>
            <a:endParaRPr lang="en-US" sz="1650"/>
          </a:p>
        </p:txBody>
      </p:sp>
      <p:sp>
        <p:nvSpPr>
          <p:cNvPr id="14" name="AutoShape 14"/>
          <p:cNvSpPr/>
          <p:nvPr/>
        </p:nvSpPr>
        <p:spPr>
          <a:xfrm>
            <a:off x="1809750" y="7905750"/>
            <a:ext cx="361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35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Évite la couverture des données originales. Écrire d'abord dans tmp_, puis remplacer globalement.</a:t>
            </a:r>
            <a:endParaRPr lang="en-US" sz="1650"/>
          </a:p>
        </p:txBody>
      </p:sp>
      <p:sp>
        <p:nvSpPr>
          <p:cNvPr id="15" name="AutoShape 15"/>
          <p:cNvSpPr/>
          <p:nvPr/>
        </p:nvSpPr>
        <p:spPr>
          <a:xfrm>
            <a:off x="6667500" y="2476500"/>
            <a:ext cx="4953000" cy="685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95250" tIns="95250" rIns="95250" bIns="95250" rtlCol="0" anchor="ctr"/>
          <a:lstStyle/>
          <a:p>
            <a:pPr algn="ctr">
              <a:defRPr/>
            </a:pPr>
            <a:endParaRPr sz="2700"/>
          </a:p>
        </p:txBody>
      </p:sp>
      <p:sp>
        <p:nvSpPr>
          <p:cNvPr id="16" name="AutoShape 16"/>
          <p:cNvSpPr/>
          <p:nvPr/>
        </p:nvSpPr>
        <p:spPr>
          <a:xfrm>
            <a:off x="7048500" y="2857500"/>
            <a:ext cx="914400" cy="914400"/>
          </a:xfrm>
          <a:prstGeom prst="ellipse">
            <a:avLst/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5250" tIns="95250" rIns="95250" bIns="95250" rtlCol="0" anchor="ctr"/>
          <a:lstStyle/>
          <a:p>
            <a:pPr algn="ctr">
              <a:defRPr/>
            </a:pPr>
            <a:endParaRPr sz="27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39000" y="3048000"/>
            <a:ext cx="533400" cy="533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191500" y="3009900"/>
            <a:ext cx="304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4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Buffer de Diffusion</a:t>
            </a:r>
            <a:endParaRPr lang="en-US" sz="1650"/>
          </a:p>
        </p:txBody>
      </p:sp>
      <p:sp>
        <p:nvSpPr>
          <p:cNvPr id="19" name="AutoShape 19"/>
          <p:cNvSpPr/>
          <p:nvPr/>
        </p:nvSpPr>
        <p:spPr>
          <a:xfrm>
            <a:off x="7048500" y="4000500"/>
            <a:ext cx="419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950" b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std::vector&lt;float&gt; tmp2_</a:t>
            </a:r>
            <a:endParaRPr lang="en-US" sz="1650"/>
          </a:p>
        </p:txBody>
      </p:sp>
      <p:sp>
        <p:nvSpPr>
          <p:cNvPr id="20" name="AutoShape 20"/>
          <p:cNvSpPr/>
          <p:nvPr/>
        </p:nvSpPr>
        <p:spPr>
          <a:xfrm>
            <a:off x="7048500" y="4953000"/>
            <a:ext cx="4191000" cy="1905000"/>
          </a:xfrm>
          <a:prstGeom prst="roundRect">
            <a:avLst>
              <a:gd name="adj" fmla="val 8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sp>
        <p:nvSpPr>
          <p:cNvPr id="21" name="AutoShape 21"/>
          <p:cNvSpPr/>
          <p:nvPr/>
        </p:nvSpPr>
        <p:spPr>
          <a:xfrm>
            <a:off x="7334250" y="5143500"/>
            <a:ext cx="361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5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核心用途</a:t>
            </a:r>
            <a:endParaRPr lang="en-US" sz="1650"/>
          </a:p>
        </p:txBody>
      </p:sp>
      <p:sp>
        <p:nvSpPr>
          <p:cNvPr id="22" name="AutoShape 22"/>
          <p:cNvSpPr/>
          <p:nvPr/>
        </p:nvSpPr>
        <p:spPr>
          <a:xfrm>
            <a:off x="7334250" y="5619750"/>
            <a:ext cx="361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35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Tableau temporaire indépendant utilisé lors du calcul de diffusion `stepDiffusion()`.</a:t>
            </a:r>
            <a:endParaRPr lang="en-US" sz="1650"/>
          </a:p>
        </p:txBody>
      </p:sp>
      <p:sp>
        <p:nvSpPr>
          <p:cNvPr id="23" name="AutoShape 23"/>
          <p:cNvSpPr/>
          <p:nvPr/>
        </p:nvSpPr>
        <p:spPr>
          <a:xfrm>
            <a:off x="7048500" y="7239000"/>
            <a:ext cx="4191000" cy="2095500"/>
          </a:xfrm>
          <a:prstGeom prst="roundRect">
            <a:avLst>
              <a:gd name="adj" fmla="val 7272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sp>
        <p:nvSpPr>
          <p:cNvPr id="24" name="AutoShape 24"/>
          <p:cNvSpPr/>
          <p:nvPr/>
        </p:nvSpPr>
        <p:spPr>
          <a:xfrm>
            <a:off x="7334250" y="7429500"/>
            <a:ext cx="361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5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✨ 设计意义</a:t>
            </a:r>
            <a:endParaRPr lang="en-US" sz="1650"/>
          </a:p>
        </p:txBody>
      </p:sp>
      <p:sp>
        <p:nvSpPr>
          <p:cNvPr id="25" name="AutoShape 25"/>
          <p:cNvSpPr/>
          <p:nvPr/>
        </p:nvSpPr>
        <p:spPr>
          <a:xfrm>
            <a:off x="7334250" y="7905750"/>
            <a:ext cx="361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35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Espace mémoire dédié pour la diffusion, isolé de tmp_ pour garantir la précision numérique.</a:t>
            </a:r>
            <a:endParaRPr lang="en-US" sz="1650"/>
          </a:p>
        </p:txBody>
      </p:sp>
      <p:sp>
        <p:nvSpPr>
          <p:cNvPr id="26" name="AutoShape 26"/>
          <p:cNvSpPr/>
          <p:nvPr/>
        </p:nvSpPr>
        <p:spPr>
          <a:xfrm>
            <a:off x="12192000" y="2476500"/>
            <a:ext cx="4953000" cy="685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95250" tIns="95250" rIns="95250" bIns="95250" rtlCol="0" anchor="ctr"/>
          <a:lstStyle/>
          <a:p>
            <a:pPr algn="ctr">
              <a:defRPr/>
            </a:pPr>
            <a:endParaRPr sz="2700"/>
          </a:p>
        </p:txBody>
      </p:sp>
      <p:sp>
        <p:nvSpPr>
          <p:cNvPr id="27" name="AutoShape 27"/>
          <p:cNvSpPr/>
          <p:nvPr/>
        </p:nvSpPr>
        <p:spPr>
          <a:xfrm>
            <a:off x="12573000" y="2857500"/>
            <a:ext cx="914400" cy="914400"/>
          </a:xfrm>
          <a:prstGeom prst="ellipse">
            <a:avLst/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5250" tIns="95250" rIns="95250" bIns="95250" rtlCol="0" anchor="ctr"/>
          <a:lstStyle/>
          <a:p>
            <a:pPr algn="ctr">
              <a:defRPr/>
            </a:pPr>
            <a:endParaRPr sz="2700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763500" y="3048000"/>
            <a:ext cx="533400" cy="533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13716000" y="3009900"/>
            <a:ext cx="304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4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Fonction d'Indice</a:t>
            </a:r>
            <a:endParaRPr lang="en-US" sz="1650"/>
          </a:p>
        </p:txBody>
      </p:sp>
      <p:sp>
        <p:nvSpPr>
          <p:cNvPr id="30" name="AutoShape 30"/>
          <p:cNvSpPr/>
          <p:nvPr/>
        </p:nvSpPr>
        <p:spPr>
          <a:xfrm>
            <a:off x="12573000" y="4000500"/>
            <a:ext cx="419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950" b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inline int idx(int i, int j)</a:t>
            </a:r>
            <a:endParaRPr lang="en-US" sz="1650"/>
          </a:p>
        </p:txBody>
      </p:sp>
      <p:sp>
        <p:nvSpPr>
          <p:cNvPr id="31" name="AutoShape 31"/>
          <p:cNvSpPr/>
          <p:nvPr/>
        </p:nvSpPr>
        <p:spPr>
          <a:xfrm>
            <a:off x="12573000" y="4953000"/>
            <a:ext cx="4191000" cy="1714500"/>
          </a:xfrm>
          <a:prstGeom prst="roundRect">
            <a:avLst>
              <a:gd name="adj" fmla="val 8888"/>
            </a:avLst>
          </a:prstGeom>
          <a:solidFill>
            <a:srgbClr val="00A99D">
              <a:alpha val="10000"/>
            </a:srgbClr>
          </a:solidFill>
          <a:ln w="12700" cap="flat" cmpd="sng">
            <a:solidFill>
              <a:srgbClr val="00A99D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sp>
        <p:nvSpPr>
          <p:cNvPr id="32" name="AutoShape 32"/>
          <p:cNvSpPr/>
          <p:nvPr/>
        </p:nvSpPr>
        <p:spPr>
          <a:xfrm>
            <a:off x="12763500" y="5143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50" b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🔑 映射公式</a:t>
            </a:r>
            <a:endParaRPr lang="en-US" sz="1650"/>
          </a:p>
        </p:txBody>
      </p:sp>
      <p:sp>
        <p:nvSpPr>
          <p:cNvPr id="33" name="AutoShape 33"/>
          <p:cNvSpPr/>
          <p:nvPr/>
        </p:nvSpPr>
        <p:spPr>
          <a:xfrm>
            <a:off x="12763500" y="5619750"/>
            <a:ext cx="3810000" cy="476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95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Index = i * ny + j</a:t>
            </a:r>
            <a:endParaRPr lang="en-US" sz="1650"/>
          </a:p>
        </p:txBody>
      </p:sp>
      <p:sp>
        <p:nvSpPr>
          <p:cNvPr id="34" name="AutoShape 34"/>
          <p:cNvSpPr/>
          <p:nvPr/>
        </p:nvSpPr>
        <p:spPr>
          <a:xfrm>
            <a:off x="12573000" y="7239000"/>
            <a:ext cx="4191000" cy="2095500"/>
          </a:xfrm>
          <a:prstGeom prst="roundRect">
            <a:avLst>
              <a:gd name="adj" fmla="val 7272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 dirty="0"/>
          </a:p>
        </p:txBody>
      </p:sp>
      <p:sp>
        <p:nvSpPr>
          <p:cNvPr id="35" name="AutoShape 35"/>
          <p:cNvSpPr/>
          <p:nvPr/>
        </p:nvSpPr>
        <p:spPr>
          <a:xfrm>
            <a:off x="12858750" y="7429500"/>
            <a:ext cx="361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5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💡 用途与意义</a:t>
            </a:r>
            <a:endParaRPr lang="en-US" sz="1650"/>
          </a:p>
        </p:txBody>
      </p:sp>
      <p:sp>
        <p:nvSpPr>
          <p:cNvPr id="36" name="AutoShape 36"/>
          <p:cNvSpPr/>
          <p:nvPr/>
        </p:nvSpPr>
        <p:spPr>
          <a:xfrm>
            <a:off x="12858750" y="7905750"/>
            <a:ext cx="361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35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Mappe les coordonnées 2D (i,j) en indice 1D. Simplifie le code et masque les détails de stockage.</a:t>
            </a:r>
            <a:endParaRPr lang="en-US" sz="165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F14C209-7C68-42D0-A565-387D977ACB98}"/>
              </a:ext>
            </a:extLst>
          </p:cNvPr>
          <p:cNvSpPr txBox="1"/>
          <p:nvPr/>
        </p:nvSpPr>
        <p:spPr>
          <a:xfrm>
            <a:off x="17297400" y="9508671"/>
            <a:ext cx="819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10</a:t>
            </a:r>
            <a:endParaRPr lang="zh-CN" altLang="en-US" sz="2000" dirty="0"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0287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5250" tIns="95250" rIns="95250" bIns="95250" rtlCol="0" anchor="ctr"/>
          <a:lstStyle/>
          <a:p>
            <a:pPr algn="ctr">
              <a:defRPr/>
            </a:pPr>
            <a:endParaRPr sz="2700"/>
          </a:p>
        </p:txBody>
      </p:sp>
      <p:sp>
        <p:nvSpPr>
          <p:cNvPr id="3" name="AutoShape 3"/>
          <p:cNvSpPr/>
          <p:nvPr/>
        </p:nvSpPr>
        <p:spPr>
          <a:xfrm>
            <a:off x="1143000" y="952500"/>
            <a:ext cx="160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42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Fonctions Core de AdvectionSolver : Calculs Mathématiques de la Dispersion de Fumée</a:t>
            </a:r>
            <a:endParaRPr lang="en-US" sz="1650"/>
          </a:p>
        </p:txBody>
      </p:sp>
      <p:sp>
        <p:nvSpPr>
          <p:cNvPr id="4" name="AutoShape 4"/>
          <p:cNvSpPr/>
          <p:nvPr/>
        </p:nvSpPr>
        <p:spPr>
          <a:xfrm>
            <a:off x="952500" y="2095500"/>
            <a:ext cx="8001000" cy="7620000"/>
          </a:xfrm>
          <a:prstGeom prst="roundRect">
            <a:avLst>
              <a:gd name="adj" fmla="val 3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sp>
        <p:nvSpPr>
          <p:cNvPr id="5" name="AutoShape 5"/>
          <p:cNvSpPr/>
          <p:nvPr/>
        </p:nvSpPr>
        <p:spPr>
          <a:xfrm>
            <a:off x="952500" y="2095500"/>
            <a:ext cx="8001000" cy="1143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33500" y="2571750"/>
            <a:ext cx="685800" cy="685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286000" y="2552700"/>
            <a:ext cx="419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000" b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stepUpwind()</a:t>
            </a:r>
            <a:endParaRPr lang="en-US" sz="1650"/>
          </a:p>
        </p:txBody>
      </p:sp>
      <p:sp>
        <p:nvSpPr>
          <p:cNvPr id="8" name="AutoShape 8"/>
          <p:cNvSpPr/>
          <p:nvPr/>
        </p:nvSpPr>
        <p:spPr>
          <a:xfrm>
            <a:off x="2286000" y="3162300"/>
            <a:ext cx="533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Algorithme Core : Calcul d'Advection</a:t>
            </a:r>
            <a:endParaRPr lang="en-US" sz="1650"/>
          </a:p>
        </p:txBody>
      </p:sp>
      <p:sp>
        <p:nvSpPr>
          <p:cNvPr id="9" name="AutoShape 9"/>
          <p:cNvSpPr/>
          <p:nvPr/>
        </p:nvSpPr>
        <p:spPr>
          <a:xfrm>
            <a:off x="1333500" y="3810000"/>
            <a:ext cx="7239000" cy="1143000"/>
          </a:xfrm>
          <a:prstGeom prst="roundRect">
            <a:avLst>
              <a:gd name="adj" fmla="val 13333"/>
            </a:avLst>
          </a:prstGeom>
          <a:solidFill>
            <a:srgbClr val="00A99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sp>
        <p:nvSpPr>
          <p:cNvPr id="10" name="AutoShape 10"/>
          <p:cNvSpPr/>
          <p:nvPr/>
        </p:nvSpPr>
        <p:spPr>
          <a:xfrm>
            <a:off x="1619250" y="3943350"/>
            <a:ext cx="666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95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🎯 Objectif du Calcul</a:t>
            </a:r>
            <a:endParaRPr lang="en-US" sz="1650"/>
          </a:p>
        </p:txBody>
      </p:sp>
      <p:sp>
        <p:nvSpPr>
          <p:cNvPr id="11" name="AutoShape 11"/>
          <p:cNvSpPr/>
          <p:nvPr/>
        </p:nvSpPr>
        <p:spPr>
          <a:xfrm>
            <a:off x="1619250" y="4400550"/>
            <a:ext cx="666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Simuler le mouvement et la migration du fluide (fumée) dans un champ de vitesse.</a:t>
            </a:r>
            <a:endParaRPr lang="en-US" sz="1650"/>
          </a:p>
        </p:txBody>
      </p:sp>
      <p:sp>
        <p:nvSpPr>
          <p:cNvPr id="12" name="AutoShape 12"/>
          <p:cNvSpPr/>
          <p:nvPr/>
        </p:nvSpPr>
        <p:spPr>
          <a:xfrm>
            <a:off x="1333500" y="5143500"/>
            <a:ext cx="7239000" cy="1333500"/>
          </a:xfrm>
          <a:prstGeom prst="roundRect">
            <a:avLst>
              <a:gd name="adj" fmla="val 11428"/>
            </a:avLst>
          </a:prstGeom>
          <a:solidFill>
            <a:srgbClr val="00A99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sp>
        <p:nvSpPr>
          <p:cNvPr id="13" name="AutoShape 13"/>
          <p:cNvSpPr/>
          <p:nvPr/>
        </p:nvSpPr>
        <p:spPr>
          <a:xfrm>
            <a:off x="1619250" y="5276850"/>
            <a:ext cx="666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95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💡 Schéma Upwind</a:t>
            </a:r>
            <a:endParaRPr lang="en-US" sz="1650"/>
          </a:p>
        </p:txBody>
      </p:sp>
      <p:sp>
        <p:nvSpPr>
          <p:cNvPr id="14" name="AutoShape 14"/>
          <p:cNvSpPr/>
          <p:nvPr/>
        </p:nvSpPr>
        <p:spPr>
          <a:xfrm>
            <a:off x="1619250" y="5734050"/>
            <a:ext cx="6667500" cy="666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Lire la concentration du voisin "en amont" selon le vent pour assurer la stabilité numérique.</a:t>
            </a:r>
            <a:endParaRPr lang="en-US" sz="1650"/>
          </a:p>
        </p:txBody>
      </p:sp>
      <p:sp>
        <p:nvSpPr>
          <p:cNvPr id="15" name="AutoShape 15"/>
          <p:cNvSpPr/>
          <p:nvPr/>
        </p:nvSpPr>
        <p:spPr>
          <a:xfrm>
            <a:off x="1333500" y="6667500"/>
            <a:ext cx="7239000" cy="1524000"/>
          </a:xfrm>
          <a:prstGeom prst="roundRect">
            <a:avLst>
              <a:gd name="adj" fmla="val 10000"/>
            </a:avLst>
          </a:prstGeom>
          <a:solidFill>
            <a:srgbClr val="2D37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sp>
        <p:nvSpPr>
          <p:cNvPr id="16" name="AutoShape 16"/>
          <p:cNvSpPr/>
          <p:nvPr/>
        </p:nvSpPr>
        <p:spPr>
          <a:xfrm>
            <a:off x="1619250" y="6800850"/>
            <a:ext cx="6667500" cy="1238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500">
                <a:solidFill>
                  <a:srgbClr val="E2E8F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const double q_up_x = (u &gt;= 0.0) ? q[idx(i-1,j,ny)] : q[idx(i+1,j,ny)];</a:t>
            </a:r>
            <a:endParaRPr lang="en-US" sz="1650"/>
          </a:p>
          <a:p>
            <a:pPr>
              <a:lnSpc>
                <a:spcPct val="125000"/>
              </a:lnSpc>
            </a:pPr>
            <a:r>
              <a:rPr lang="en-US" sz="1500">
                <a:solidFill>
                  <a:srgbClr val="E2E8F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const double q_up_y = (w &gt;= 0.0) ? q[idx(i,j-1,ny)] : q[idx(i,j+1,ny)];</a:t>
            </a:r>
            <a:br>
              <a:rPr lang="en-US" sz="1500">
                <a:solidFill>
                  <a:srgbClr val="E2E8F0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500">
                <a:solidFill>
                  <a:srgbClr val="E2E8F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next = (1-ax-ay)*q + ax*q_up_x + ay*q_up_y;</a:t>
            </a:r>
          </a:p>
        </p:txBody>
      </p:sp>
      <p:sp>
        <p:nvSpPr>
          <p:cNvPr id="17" name="AutoShape 17"/>
          <p:cNvSpPr/>
          <p:nvPr/>
        </p:nvSpPr>
        <p:spPr>
          <a:xfrm>
            <a:off x="1333500" y="8382000"/>
            <a:ext cx="7239000" cy="762000"/>
          </a:xfrm>
          <a:prstGeom prst="roundRect">
            <a:avLst>
              <a:gd name="adj" fmla="val 20000"/>
            </a:avLst>
          </a:prstGeom>
          <a:solidFill>
            <a:srgbClr val="F0F2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sp>
        <p:nvSpPr>
          <p:cNvPr id="18" name="AutoShape 18"/>
          <p:cNvSpPr/>
          <p:nvPr/>
        </p:nvSpPr>
        <p:spPr>
          <a:xfrm>
            <a:off x="1619250" y="8515350"/>
            <a:ext cx="6667500" cy="476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📝 Signification : </a:t>
            </a:r>
            <a:r>
              <a:rPr lang="en-US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Partie</a:t>
            </a:r>
            <a:r>
              <a:rPr lang="en-US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conserve, </a:t>
            </a:r>
            <a:r>
              <a:rPr lang="en-US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partie</a:t>
            </a:r>
            <a:r>
              <a:rPr lang="en-US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migre</a:t>
            </a:r>
            <a:r>
              <a:rPr lang="en-US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des </a:t>
            </a:r>
            <a:r>
              <a:rPr lang="en-US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voisins</a:t>
            </a:r>
            <a:r>
              <a:rPr lang="en-US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650" dirty="0"/>
          </a:p>
        </p:txBody>
      </p:sp>
      <p:sp>
        <p:nvSpPr>
          <p:cNvPr id="19" name="AutoShape 19"/>
          <p:cNvSpPr/>
          <p:nvPr/>
        </p:nvSpPr>
        <p:spPr>
          <a:xfrm>
            <a:off x="9334500" y="2095500"/>
            <a:ext cx="8001000" cy="7620000"/>
          </a:xfrm>
          <a:prstGeom prst="roundRect">
            <a:avLst>
              <a:gd name="adj" fmla="val 3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sp>
        <p:nvSpPr>
          <p:cNvPr id="20" name="AutoShape 20"/>
          <p:cNvSpPr/>
          <p:nvPr/>
        </p:nvSpPr>
        <p:spPr>
          <a:xfrm>
            <a:off x="9334500" y="2095500"/>
            <a:ext cx="8001000" cy="1143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15500" y="2571750"/>
            <a:ext cx="685800" cy="685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0668000" y="2552700"/>
            <a:ext cx="457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000" b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stepDiffusion()</a:t>
            </a:r>
            <a:endParaRPr lang="en-US" sz="1650"/>
          </a:p>
        </p:txBody>
      </p:sp>
      <p:sp>
        <p:nvSpPr>
          <p:cNvPr id="23" name="AutoShape 23"/>
          <p:cNvSpPr/>
          <p:nvPr/>
        </p:nvSpPr>
        <p:spPr>
          <a:xfrm>
            <a:off x="10668000" y="3162300"/>
            <a:ext cx="533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Algorithme Core : Calcul de Diffusion</a:t>
            </a:r>
            <a:endParaRPr lang="en-US" sz="1650"/>
          </a:p>
        </p:txBody>
      </p:sp>
      <p:sp>
        <p:nvSpPr>
          <p:cNvPr id="24" name="AutoShape 24"/>
          <p:cNvSpPr/>
          <p:nvPr/>
        </p:nvSpPr>
        <p:spPr>
          <a:xfrm>
            <a:off x="9715500" y="3810000"/>
            <a:ext cx="7239000" cy="1143000"/>
          </a:xfrm>
          <a:prstGeom prst="roundRect">
            <a:avLst>
              <a:gd name="adj" fmla="val 13333"/>
            </a:avLst>
          </a:prstGeom>
          <a:solidFill>
            <a:srgbClr val="00A99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sp>
        <p:nvSpPr>
          <p:cNvPr id="25" name="AutoShape 25"/>
          <p:cNvSpPr/>
          <p:nvPr/>
        </p:nvSpPr>
        <p:spPr>
          <a:xfrm>
            <a:off x="10001250" y="3943350"/>
            <a:ext cx="666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95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🎯 Objectif du Calcul</a:t>
            </a:r>
            <a:endParaRPr lang="en-US" sz="1650"/>
          </a:p>
        </p:txBody>
      </p:sp>
      <p:sp>
        <p:nvSpPr>
          <p:cNvPr id="26" name="AutoShape 26"/>
          <p:cNvSpPr/>
          <p:nvPr/>
        </p:nvSpPr>
        <p:spPr>
          <a:xfrm>
            <a:off x="10001250" y="4400550"/>
            <a:ext cx="666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Simuler le mouvement brownien des molécules pour une dispersion naturelle.</a:t>
            </a:r>
            <a:endParaRPr lang="en-US" sz="1650"/>
          </a:p>
        </p:txBody>
      </p:sp>
      <p:sp>
        <p:nvSpPr>
          <p:cNvPr id="27" name="AutoShape 27"/>
          <p:cNvSpPr/>
          <p:nvPr/>
        </p:nvSpPr>
        <p:spPr>
          <a:xfrm>
            <a:off x="9715500" y="5143500"/>
            <a:ext cx="7239000" cy="1333500"/>
          </a:xfrm>
          <a:prstGeom prst="roundRect">
            <a:avLst>
              <a:gd name="adj" fmla="val 11428"/>
            </a:avLst>
          </a:prstGeom>
          <a:solidFill>
            <a:srgbClr val="00A99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sp>
        <p:nvSpPr>
          <p:cNvPr id="28" name="AutoShape 28"/>
          <p:cNvSpPr/>
          <p:nvPr/>
        </p:nvSpPr>
        <p:spPr>
          <a:xfrm>
            <a:off x="10001250" y="5276850"/>
            <a:ext cx="666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95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💡 Opérateur Laplacien</a:t>
            </a:r>
            <a:endParaRPr lang="en-US" sz="1650"/>
          </a:p>
        </p:txBody>
      </p:sp>
      <p:sp>
        <p:nvSpPr>
          <p:cNvPr id="29" name="AutoShape 29"/>
          <p:cNvSpPr/>
          <p:nvPr/>
        </p:nvSpPr>
        <p:spPr>
          <a:xfrm>
            <a:off x="10001250" y="5734050"/>
            <a:ext cx="6667500" cy="666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Calculer la dérivée secondaire spatial pour mesurer l'inhomogénéité et équilibrer.</a:t>
            </a:r>
            <a:endParaRPr lang="en-US" sz="1650"/>
          </a:p>
        </p:txBody>
      </p:sp>
      <p:sp>
        <p:nvSpPr>
          <p:cNvPr id="30" name="AutoShape 30"/>
          <p:cNvSpPr/>
          <p:nvPr/>
        </p:nvSpPr>
        <p:spPr>
          <a:xfrm>
            <a:off x="9715500" y="6667500"/>
            <a:ext cx="7239000" cy="1524000"/>
          </a:xfrm>
          <a:prstGeom prst="roundRect">
            <a:avLst>
              <a:gd name="adj" fmla="val 10000"/>
            </a:avLst>
          </a:prstGeom>
          <a:solidFill>
            <a:srgbClr val="2D37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sp>
        <p:nvSpPr>
          <p:cNvPr id="31" name="AutoShape 31"/>
          <p:cNvSpPr/>
          <p:nvPr/>
        </p:nvSpPr>
        <p:spPr>
          <a:xfrm>
            <a:off x="10001250" y="6800850"/>
            <a:ext cx="6667500" cy="1238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500">
                <a:solidFill>
                  <a:srgbClr val="E2E8F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lap = (q[i+1]-2q[i]+q[i-1])/dx² + (q[j+1]-2q[j]+q[j-1])/dy²;</a:t>
            </a:r>
            <a:br>
              <a:rPr lang="en-US" sz="1500">
                <a:solidFill>
                  <a:srgbClr val="E2E8F0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500">
                <a:solidFill>
                  <a:srgbClr val="E2E8F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next = q + kappa * dt * lap;</a:t>
            </a:r>
            <a:endParaRPr lang="en-US" sz="1650"/>
          </a:p>
        </p:txBody>
      </p:sp>
      <p:sp>
        <p:nvSpPr>
          <p:cNvPr id="32" name="AutoShape 32"/>
          <p:cNvSpPr/>
          <p:nvPr/>
        </p:nvSpPr>
        <p:spPr>
          <a:xfrm>
            <a:off x="9715500" y="8382000"/>
            <a:ext cx="7239000" cy="762000"/>
          </a:xfrm>
          <a:prstGeom prst="roundRect">
            <a:avLst>
              <a:gd name="adj" fmla="val 20000"/>
            </a:avLst>
          </a:prstGeom>
          <a:solidFill>
            <a:srgbClr val="F0F2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sp>
        <p:nvSpPr>
          <p:cNvPr id="33" name="AutoShape 33"/>
          <p:cNvSpPr/>
          <p:nvPr/>
        </p:nvSpPr>
        <p:spPr>
          <a:xfrm>
            <a:off x="10001250" y="8515350"/>
            <a:ext cx="6667500" cy="476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📝 Signification : Infiltration des zones concentrées vers les zones basses.</a:t>
            </a:r>
            <a:endParaRPr lang="en-US" sz="165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5971C43-0D56-45CC-ABC3-BD680FF8DC84}"/>
              </a:ext>
            </a:extLst>
          </p:cNvPr>
          <p:cNvSpPr txBox="1"/>
          <p:nvPr/>
        </p:nvSpPr>
        <p:spPr>
          <a:xfrm>
            <a:off x="17297400" y="9508671"/>
            <a:ext cx="819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11</a:t>
            </a:r>
            <a:endParaRPr lang="zh-CN" altLang="en-US" sz="2000" dirty="0"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028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5250" tIns="95250" rIns="95250" bIns="95250" rtlCol="0" anchor="ctr"/>
          <a:lstStyle/>
          <a:p>
            <a:pPr algn="ctr">
              <a:defRPr/>
            </a:pPr>
            <a:endParaRPr sz="2700"/>
          </a:p>
        </p:txBody>
      </p:sp>
      <p:sp>
        <p:nvSpPr>
          <p:cNvPr id="3" name="AutoShape 3"/>
          <p:cNvSpPr/>
          <p:nvPr/>
        </p:nvSpPr>
        <p:spPr>
          <a:xfrm>
            <a:off x="1143000" y="952500"/>
            <a:ext cx="160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6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Variables Membres Clés de MainWindow : Composants Core de l'UI et du Système de Simulation</a:t>
            </a:r>
            <a:endParaRPr lang="en-US" sz="1650"/>
          </a:p>
        </p:txBody>
      </p:sp>
      <p:sp>
        <p:nvSpPr>
          <p:cNvPr id="4" name="AutoShape 4"/>
          <p:cNvSpPr/>
          <p:nvPr/>
        </p:nvSpPr>
        <p:spPr>
          <a:xfrm>
            <a:off x="1143000" y="2476500"/>
            <a:ext cx="3810000" cy="6858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95250" tIns="95250" rIns="95250" bIns="95250" rtlCol="0" anchor="ctr"/>
          <a:lstStyle/>
          <a:p>
            <a:pPr algn="ctr">
              <a:defRPr/>
            </a:pPr>
            <a:endParaRPr sz="2700"/>
          </a:p>
        </p:txBody>
      </p:sp>
      <p:sp>
        <p:nvSpPr>
          <p:cNvPr id="5" name="AutoShape 5"/>
          <p:cNvSpPr/>
          <p:nvPr/>
        </p:nvSpPr>
        <p:spPr>
          <a:xfrm>
            <a:off x="2400300" y="2857500"/>
            <a:ext cx="1295400" cy="1295400"/>
          </a:xfrm>
          <a:prstGeom prst="ellipse">
            <a:avLst/>
          </a:prstGeom>
          <a:solidFill>
            <a:srgbClr val="00A99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5250" tIns="95250" rIns="95250" bIns="95250" rtlCol="0" anchor="ctr"/>
          <a:lstStyle/>
          <a:p>
            <a:pPr algn="ctr">
              <a:defRPr/>
            </a:pPr>
            <a:endParaRPr sz="27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5100" y="3162300"/>
            <a:ext cx="685800" cy="685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4381500"/>
            <a:ext cx="342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2100" b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SimulationController</a:t>
            </a:r>
            <a:br>
              <a:rPr lang="en-US" sz="2100" b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2100" b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controller_</a:t>
            </a:r>
            <a:endParaRPr lang="en-US" sz="1650"/>
          </a:p>
        </p:txBody>
      </p:sp>
      <p:sp>
        <p:nvSpPr>
          <p:cNvPr id="8" name="AutoShape 8"/>
          <p:cNvSpPr/>
          <p:nvPr/>
        </p:nvSpPr>
        <p:spPr>
          <a:xfrm>
            <a:off x="1428750" y="5524500"/>
            <a:ext cx="3238500" cy="1143000"/>
          </a:xfrm>
          <a:prstGeom prst="roundRect">
            <a:avLst>
              <a:gd name="adj" fmla="val 13333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5250" tIns="95250" rIns="95250" bIns="95250" rtlCol="0" anchor="ctr"/>
          <a:lstStyle/>
          <a:p>
            <a:pPr algn="ctr">
              <a:defRPr/>
            </a:pPr>
            <a:endParaRPr sz="2700"/>
          </a:p>
        </p:txBody>
      </p:sp>
      <p:sp>
        <p:nvSpPr>
          <p:cNvPr id="9" name="AutoShape 9"/>
          <p:cNvSpPr/>
          <p:nvPr/>
        </p:nvSpPr>
        <p:spPr>
          <a:xfrm>
            <a:off x="1619250" y="5676900"/>
            <a:ext cx="28575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350" b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Rôle Principal :</a:t>
            </a:r>
            <a:r>
              <a:rPr lang="en-US" sz="135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Contrôleur central du système de simulation, responsable de la coordination de toute la logique de calcul et du traitement des requêtes utilisateur.</a:t>
            </a:r>
            <a:endParaRPr lang="en-US" sz="1650"/>
          </a:p>
        </p:txBody>
      </p:sp>
      <p:sp>
        <p:nvSpPr>
          <p:cNvPr id="10" name="AutoShape 10"/>
          <p:cNvSpPr/>
          <p:nvPr/>
        </p:nvSpPr>
        <p:spPr>
          <a:xfrm>
            <a:off x="1428750" y="6858000"/>
            <a:ext cx="323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5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Responsabilités Clés</a:t>
            </a:r>
            <a:endParaRPr lang="en-US" sz="1650"/>
          </a:p>
        </p:txBody>
      </p:sp>
      <p:sp>
        <p:nvSpPr>
          <p:cNvPr id="11" name="AutoShape 11"/>
          <p:cNvSpPr/>
          <p:nvPr/>
        </p:nvSpPr>
        <p:spPr>
          <a:xfrm>
            <a:off x="1428750" y="7429500"/>
            <a:ext cx="3238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 sz="120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• Gérer l'initialisation du champ de concentration de fumée et du système de vent</a:t>
            </a:r>
            <a:br>
              <a:rPr lang="en-US" sz="120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• Avancer la timeline de simulation et appeler le solveur numérique</a:t>
            </a:r>
            <a:br>
              <a:rPr lang="en-US" sz="120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• Mettre à jour en temps réel les données de rendu vers l'interface frontale</a:t>
            </a:r>
            <a:endParaRPr lang="en-US" sz="1650"/>
          </a:p>
        </p:txBody>
      </p:sp>
      <p:sp>
        <p:nvSpPr>
          <p:cNvPr id="12" name="AutoShape 12"/>
          <p:cNvSpPr/>
          <p:nvPr/>
        </p:nvSpPr>
        <p:spPr>
          <a:xfrm>
            <a:off x="5238750" y="2476500"/>
            <a:ext cx="3810000" cy="6858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95250" tIns="95250" rIns="95250" bIns="95250" rtlCol="0" anchor="ctr"/>
          <a:lstStyle/>
          <a:p>
            <a:pPr algn="ctr">
              <a:defRPr/>
            </a:pPr>
            <a:endParaRPr sz="2700"/>
          </a:p>
        </p:txBody>
      </p:sp>
      <p:sp>
        <p:nvSpPr>
          <p:cNvPr id="13" name="AutoShape 13"/>
          <p:cNvSpPr/>
          <p:nvPr/>
        </p:nvSpPr>
        <p:spPr>
          <a:xfrm>
            <a:off x="6496050" y="2857500"/>
            <a:ext cx="1295400" cy="1295400"/>
          </a:xfrm>
          <a:prstGeom prst="ellipse">
            <a:avLst/>
          </a:prstGeom>
          <a:solidFill>
            <a:srgbClr val="00A99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5250" tIns="95250" rIns="95250" bIns="95250" rtlCol="0" anchor="ctr"/>
          <a:lstStyle/>
          <a:p>
            <a:pPr algn="ctr">
              <a:defRPr/>
            </a:pPr>
            <a:endParaRPr sz="27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00850" y="3162300"/>
            <a:ext cx="685800" cy="685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429250" y="4381500"/>
            <a:ext cx="342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2100" b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HeatMapWidget*</a:t>
            </a:r>
            <a:br>
              <a:rPr lang="en-US" sz="2100" b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2100" b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view_</a:t>
            </a:r>
            <a:endParaRPr lang="en-US" sz="1650"/>
          </a:p>
        </p:txBody>
      </p:sp>
      <p:sp>
        <p:nvSpPr>
          <p:cNvPr id="16" name="AutoShape 16"/>
          <p:cNvSpPr/>
          <p:nvPr/>
        </p:nvSpPr>
        <p:spPr>
          <a:xfrm>
            <a:off x="5524500" y="5524500"/>
            <a:ext cx="3238500" cy="1143000"/>
          </a:xfrm>
          <a:prstGeom prst="roundRect">
            <a:avLst>
              <a:gd name="adj" fmla="val 13333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5250" tIns="95250" rIns="95250" bIns="95250" rtlCol="0" anchor="ctr"/>
          <a:lstStyle/>
          <a:p>
            <a:pPr algn="ctr">
              <a:defRPr/>
            </a:pPr>
            <a:endParaRPr sz="2700"/>
          </a:p>
        </p:txBody>
      </p:sp>
      <p:sp>
        <p:nvSpPr>
          <p:cNvPr id="17" name="AutoShape 17"/>
          <p:cNvSpPr/>
          <p:nvPr/>
        </p:nvSpPr>
        <p:spPr>
          <a:xfrm>
            <a:off x="5715000" y="5676900"/>
            <a:ext cx="28575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350" b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Rôle Principal :</a:t>
            </a:r>
            <a:r>
              <a:rPr lang="en-US" sz="135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Fenêtre de sortie visuelle, responsable de l'affichage graphique des données de simulation et de la fourniture d'une rétroaction intuitive sous forme de carte de chaleur.</a:t>
            </a:r>
            <a:endParaRPr lang="en-US" sz="1650"/>
          </a:p>
        </p:txBody>
      </p:sp>
      <p:sp>
        <p:nvSpPr>
          <p:cNvPr id="18" name="AutoShape 18"/>
          <p:cNvSpPr/>
          <p:nvPr/>
        </p:nvSpPr>
        <p:spPr>
          <a:xfrm>
            <a:off x="5524500" y="6858000"/>
            <a:ext cx="323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5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Contenu du Rendu</a:t>
            </a:r>
            <a:endParaRPr lang="en-US" sz="1650"/>
          </a:p>
        </p:txBody>
      </p:sp>
      <p:sp>
        <p:nvSpPr>
          <p:cNvPr id="19" name="AutoShape 19"/>
          <p:cNvSpPr/>
          <p:nvPr/>
        </p:nvSpPr>
        <p:spPr>
          <a:xfrm>
            <a:off x="5524500" y="7429500"/>
            <a:ext cx="3238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 sz="120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• Dessiner la carte de chaleur de concentration de fumée en temps réel et les lignes de niveau</a:t>
            </a:r>
            <a:br>
              <a:rPr lang="en-US" sz="120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• Marquer la position et l'intensité de la source de pollution (cheminée)</a:t>
            </a:r>
            <a:br>
              <a:rPr lang="en-US" sz="120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• Afficher dynamiquement le vecteur de direction et de vitesse du vent environnemental actuel</a:t>
            </a:r>
            <a:endParaRPr lang="en-US" sz="1650"/>
          </a:p>
        </p:txBody>
      </p:sp>
      <p:sp>
        <p:nvSpPr>
          <p:cNvPr id="20" name="AutoShape 20"/>
          <p:cNvSpPr/>
          <p:nvPr/>
        </p:nvSpPr>
        <p:spPr>
          <a:xfrm>
            <a:off x="9334500" y="2476500"/>
            <a:ext cx="3810000" cy="6858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95250" tIns="95250" rIns="95250" bIns="95250" rtlCol="0" anchor="ctr"/>
          <a:lstStyle/>
          <a:p>
            <a:pPr algn="ctr">
              <a:defRPr/>
            </a:pPr>
            <a:endParaRPr sz="2700"/>
          </a:p>
        </p:txBody>
      </p:sp>
      <p:sp>
        <p:nvSpPr>
          <p:cNvPr id="21" name="AutoShape 21"/>
          <p:cNvSpPr/>
          <p:nvPr/>
        </p:nvSpPr>
        <p:spPr>
          <a:xfrm>
            <a:off x="10591800" y="2857500"/>
            <a:ext cx="1295400" cy="1295400"/>
          </a:xfrm>
          <a:prstGeom prst="ellipse">
            <a:avLst/>
          </a:prstGeom>
          <a:solidFill>
            <a:srgbClr val="00A99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5250" tIns="95250" rIns="95250" bIns="95250" rtlCol="0" anchor="ctr"/>
          <a:lstStyle/>
          <a:p>
            <a:pPr algn="ctr">
              <a:defRPr/>
            </a:pPr>
            <a:endParaRPr sz="27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96600" y="3162300"/>
            <a:ext cx="685800" cy="685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525000" y="4381500"/>
            <a:ext cx="342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2100" b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std::vector&lt;WindRow&gt;</a:t>
            </a:r>
            <a:br>
              <a:rPr lang="en-US" sz="2100" b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2100" b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windRows_</a:t>
            </a:r>
            <a:endParaRPr lang="en-US" sz="1650"/>
          </a:p>
        </p:txBody>
      </p:sp>
      <p:sp>
        <p:nvSpPr>
          <p:cNvPr id="24" name="AutoShape 24"/>
          <p:cNvSpPr/>
          <p:nvPr/>
        </p:nvSpPr>
        <p:spPr>
          <a:xfrm>
            <a:off x="9620250" y="5524500"/>
            <a:ext cx="3238500" cy="1143000"/>
          </a:xfrm>
          <a:prstGeom prst="roundRect">
            <a:avLst>
              <a:gd name="adj" fmla="val 13333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5250" tIns="95250" rIns="95250" bIns="95250" rtlCol="0" anchor="ctr"/>
          <a:lstStyle/>
          <a:p>
            <a:pPr algn="ctr">
              <a:defRPr/>
            </a:pPr>
            <a:endParaRPr sz="2700"/>
          </a:p>
        </p:txBody>
      </p:sp>
      <p:sp>
        <p:nvSpPr>
          <p:cNvPr id="25" name="AutoShape 25"/>
          <p:cNvSpPr/>
          <p:nvPr/>
        </p:nvSpPr>
        <p:spPr>
          <a:xfrm>
            <a:off x="9810750" y="5676900"/>
            <a:ext cx="28575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350" b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Rôle Principal :</a:t>
            </a:r>
            <a:r>
              <a:rPr lang="en-US" sz="135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Conteneur de configuration de multiples champs de vent, prenant en charge la simulation d'environnements de vent complexes et gérant plusieurs ensembles de données de vent indépendants.</a:t>
            </a:r>
            <a:endParaRPr lang="en-US" sz="1650"/>
          </a:p>
        </p:txBody>
      </p:sp>
      <p:sp>
        <p:nvSpPr>
          <p:cNvPr id="26" name="AutoShape 26"/>
          <p:cNvSpPr/>
          <p:nvPr/>
        </p:nvSpPr>
        <p:spPr>
          <a:xfrm>
            <a:off x="9620250" y="6858000"/>
            <a:ext cx="323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5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Structure et Caractéristiques</a:t>
            </a:r>
            <a:endParaRPr lang="en-US" sz="1650"/>
          </a:p>
        </p:txBody>
      </p:sp>
      <p:sp>
        <p:nvSpPr>
          <p:cNvPr id="27" name="AutoShape 27"/>
          <p:cNvSpPr/>
          <p:nvPr/>
        </p:nvSpPr>
        <p:spPr>
          <a:xfrm>
            <a:off x="9620250" y="7429500"/>
            <a:ext cx="3238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 sz="120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• Inclut des curseurs (Sliders) de vitesse et de direction du vent ainsi qu'un bouton de suppression</a:t>
            </a:r>
            <a:br>
              <a:rPr lang="en-US" sz="120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• Prend en charge le chevauchement de plusieurs configurations de données de vent indépendantes</a:t>
            </a:r>
            <a:br>
              <a:rPr lang="en-US" sz="120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• Calcule et affiche automatiquement les résultats des paramètres du vent composé</a:t>
            </a:r>
            <a:endParaRPr lang="en-US" sz="1650"/>
          </a:p>
        </p:txBody>
      </p:sp>
      <p:sp>
        <p:nvSpPr>
          <p:cNvPr id="28" name="AutoShape 28"/>
          <p:cNvSpPr/>
          <p:nvPr/>
        </p:nvSpPr>
        <p:spPr>
          <a:xfrm>
            <a:off x="13430250" y="2476500"/>
            <a:ext cx="3810000" cy="6858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95250" tIns="95250" rIns="95250" bIns="95250" rtlCol="0" anchor="ctr"/>
          <a:lstStyle/>
          <a:p>
            <a:pPr algn="ctr">
              <a:defRPr/>
            </a:pPr>
            <a:endParaRPr sz="2700"/>
          </a:p>
        </p:txBody>
      </p:sp>
      <p:sp>
        <p:nvSpPr>
          <p:cNvPr id="29" name="AutoShape 29"/>
          <p:cNvSpPr/>
          <p:nvPr/>
        </p:nvSpPr>
        <p:spPr>
          <a:xfrm>
            <a:off x="14687550" y="2857500"/>
            <a:ext cx="1295400" cy="1295400"/>
          </a:xfrm>
          <a:prstGeom prst="ellipse">
            <a:avLst/>
          </a:prstGeom>
          <a:solidFill>
            <a:srgbClr val="00A99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5250" tIns="95250" rIns="95250" bIns="95250" rtlCol="0" anchor="ctr"/>
          <a:lstStyle/>
          <a:p>
            <a:pPr algn="ctr">
              <a:defRPr/>
            </a:pPr>
            <a:endParaRPr sz="2700"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992350" y="3162300"/>
            <a:ext cx="685800" cy="685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13620750" y="4381500"/>
            <a:ext cx="342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2100" b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QLabel*</a:t>
            </a:r>
            <a:br>
              <a:rPr lang="en-US" sz="2100" b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2100" b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resultantLabel_</a:t>
            </a:r>
            <a:endParaRPr lang="en-US" sz="1650"/>
          </a:p>
        </p:txBody>
      </p:sp>
      <p:sp>
        <p:nvSpPr>
          <p:cNvPr id="32" name="AutoShape 32"/>
          <p:cNvSpPr/>
          <p:nvPr/>
        </p:nvSpPr>
        <p:spPr>
          <a:xfrm>
            <a:off x="13716000" y="5524500"/>
            <a:ext cx="3238500" cy="1143000"/>
          </a:xfrm>
          <a:prstGeom prst="roundRect">
            <a:avLst>
              <a:gd name="adj" fmla="val 13333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5250" tIns="95250" rIns="95250" bIns="95250" rtlCol="0" anchor="ctr"/>
          <a:lstStyle/>
          <a:p>
            <a:pPr algn="ctr">
              <a:defRPr/>
            </a:pPr>
            <a:endParaRPr sz="2700"/>
          </a:p>
        </p:txBody>
      </p:sp>
      <p:sp>
        <p:nvSpPr>
          <p:cNvPr id="33" name="AutoShape 33"/>
          <p:cNvSpPr/>
          <p:nvPr/>
        </p:nvSpPr>
        <p:spPr>
          <a:xfrm>
            <a:off x="13906500" y="5676900"/>
            <a:ext cx="28575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350" b="1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Rôle</a:t>
            </a:r>
            <a:r>
              <a:rPr lang="en-US" sz="1350" b="1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Principal :</a:t>
            </a:r>
            <a:r>
              <a:rPr lang="en-US" sz="135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Terminal de </a:t>
            </a:r>
            <a:r>
              <a:rPr lang="en-US" sz="1350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rétroaction</a:t>
            </a:r>
            <a:r>
              <a:rPr lang="en-US" sz="135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50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d'informations</a:t>
            </a:r>
            <a:r>
              <a:rPr lang="en-US" sz="135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en-US" sz="1350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affichantement</a:t>
            </a:r>
            <a:r>
              <a:rPr lang="en-US" sz="135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50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l'état</a:t>
            </a:r>
            <a:r>
              <a:rPr lang="en-US" sz="135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 final </a:t>
            </a:r>
            <a:r>
              <a:rPr lang="en-US" sz="1350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actuel</a:t>
            </a:r>
            <a:r>
              <a:rPr lang="en-US" sz="135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 du champ de vent et aidant </a:t>
            </a:r>
            <a:r>
              <a:rPr lang="en-US" sz="1350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l'utilisateur</a:t>
            </a:r>
            <a:r>
              <a:rPr lang="en-US" sz="135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 au </a:t>
            </a:r>
            <a:r>
              <a:rPr lang="en-US" sz="1350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débogage</a:t>
            </a:r>
            <a:r>
              <a:rPr lang="en-US" sz="135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 des </a:t>
            </a:r>
            <a:r>
              <a:rPr lang="en-US" sz="1350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paramètres</a:t>
            </a:r>
            <a:r>
              <a:rPr lang="en-US" sz="135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endParaRPr lang="en-US" sz="1650" dirty="0"/>
          </a:p>
        </p:txBody>
      </p:sp>
      <p:sp>
        <p:nvSpPr>
          <p:cNvPr id="34" name="AutoShape 34"/>
          <p:cNvSpPr/>
          <p:nvPr/>
        </p:nvSpPr>
        <p:spPr>
          <a:xfrm>
            <a:off x="13716000" y="6858000"/>
            <a:ext cx="323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65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Informations Clés de Réponse</a:t>
            </a:r>
            <a:endParaRPr lang="en-US" sz="1650"/>
          </a:p>
        </p:txBody>
      </p:sp>
      <p:sp>
        <p:nvSpPr>
          <p:cNvPr id="35" name="AutoShape 35"/>
          <p:cNvSpPr/>
          <p:nvPr/>
        </p:nvSpPr>
        <p:spPr>
          <a:xfrm>
            <a:off x="13716000" y="7429500"/>
            <a:ext cx="3238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en-US" sz="120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• Afficher en temps réel la taille finale de la vitesse du vent composé</a:t>
            </a:r>
            <a:br>
              <a:rPr lang="en-US" sz="120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• Afficher en temps réel la direction angulaire finale du vent composé</a:t>
            </a:r>
            <a:br>
              <a:rPr lang="en-US" sz="120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• Aider l'utilisateur à comprendre et à déboguer la configuration des paramètres du champ de vent</a:t>
            </a:r>
            <a:endParaRPr lang="en-US" sz="165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BAB0B43-706D-412E-B520-D5285863C8F3}"/>
              </a:ext>
            </a:extLst>
          </p:cNvPr>
          <p:cNvSpPr txBox="1"/>
          <p:nvPr/>
        </p:nvSpPr>
        <p:spPr>
          <a:xfrm>
            <a:off x="17297400" y="9508671"/>
            <a:ext cx="819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12</a:t>
            </a:r>
            <a:endParaRPr lang="zh-CN" altLang="en-US" sz="2000" dirty="0"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0287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5250" tIns="95250" rIns="95250" bIns="95250" rtlCol="0" anchor="ctr"/>
          <a:lstStyle/>
          <a:p>
            <a:pPr algn="ctr">
              <a:defRPr/>
            </a:pPr>
            <a:endParaRPr sz="2700"/>
          </a:p>
        </p:txBody>
      </p:sp>
      <p:sp>
        <p:nvSpPr>
          <p:cNvPr id="3" name="AutoShape 3"/>
          <p:cNvSpPr/>
          <p:nvPr/>
        </p:nvSpPr>
        <p:spPr>
          <a:xfrm>
            <a:off x="1143000" y="952500"/>
            <a:ext cx="160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6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Exécution des Fonctions Core de MainWindow : Comment la Fenêtre Principale Pilote le Système Entier</a:t>
            </a:r>
            <a:endParaRPr lang="en-US" sz="1650"/>
          </a:p>
        </p:txBody>
      </p:sp>
      <p:sp>
        <p:nvSpPr>
          <p:cNvPr id="4" name="AutoShape 4"/>
          <p:cNvSpPr/>
          <p:nvPr/>
        </p:nvSpPr>
        <p:spPr>
          <a:xfrm>
            <a:off x="571500" y="2095500"/>
            <a:ext cx="5524500" cy="7620000"/>
          </a:xfrm>
          <a:prstGeom prst="roundRect">
            <a:avLst>
              <a:gd name="adj" fmla="val 413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762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sp>
        <p:nvSpPr>
          <p:cNvPr id="5" name="AutoShape 5"/>
          <p:cNvSpPr/>
          <p:nvPr/>
        </p:nvSpPr>
        <p:spPr>
          <a:xfrm>
            <a:off x="571500" y="2095500"/>
            <a:ext cx="5524500" cy="114300"/>
          </a:xfrm>
          <a:prstGeom prst="roundRect">
            <a:avLst>
              <a:gd name="adj" fmla="val 20000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4765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14500" y="2476500"/>
            <a:ext cx="4000500" cy="666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1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Constructeur MainWindow()</a:t>
            </a:r>
            <a:endParaRPr lang="en-US" sz="1650"/>
          </a:p>
        </p:txBody>
      </p:sp>
      <p:sp>
        <p:nvSpPr>
          <p:cNvPr id="8" name="AutoShape 8"/>
          <p:cNvSpPr/>
          <p:nvPr/>
        </p:nvSpPr>
        <p:spPr>
          <a:xfrm>
            <a:off x="952500" y="3238500"/>
            <a:ext cx="476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500" i="1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Initialise l'interface utilisateur, le système de simulation et établit la connexion entre l'UI et la logique au démarrage du programme.</a:t>
            </a:r>
            <a:endParaRPr lang="en-US" sz="1650"/>
          </a:p>
        </p:txBody>
      </p:sp>
      <p:sp>
        <p:nvSpPr>
          <p:cNvPr id="9" name="AutoShape 9"/>
          <p:cNvSpPr/>
          <p:nvPr/>
        </p:nvSpPr>
        <p:spPr>
          <a:xfrm>
            <a:off x="952500" y="4191000"/>
            <a:ext cx="4762500" cy="4191000"/>
          </a:xfrm>
          <a:prstGeom prst="roundRect">
            <a:avLst>
              <a:gd name="adj" fmla="val 2727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sp>
        <p:nvSpPr>
          <p:cNvPr id="10" name="AutoShape 10"/>
          <p:cNvSpPr/>
          <p:nvPr/>
        </p:nvSpPr>
        <p:spPr>
          <a:xfrm>
            <a:off x="1143000" y="4381500"/>
            <a:ext cx="43815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Créer la mise en page à deux colonnes et les boutons principaux</a:t>
            </a:r>
            <a:endParaRPr lang="en-US" sz="1650"/>
          </a:p>
          <a:p>
            <a:pPr>
              <a:lnSpc>
                <a:spcPct val="108333"/>
              </a:lnSpc>
            </a:pPr>
            <a:r>
              <a:rPr lang="en-US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Instancier la fenêtre de la carte thermique et le contrôleur de simulation</a:t>
            </a:r>
          </a:p>
          <a:p>
            <a:pPr>
              <a:lnSpc>
                <a:spcPct val="108333"/>
              </a:lnSpc>
            </a:pPr>
            <a:r>
              <a:rPr lang="en-US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Définir la vitesse du vent par défaut et synchroniser les paramètres initials de l'UI</a:t>
            </a:r>
          </a:p>
          <a:p>
            <a:pPr>
              <a:lnSpc>
                <a:spcPct val="108333"/>
              </a:lnSpc>
            </a:pPr>
            <a:r>
              <a:rPr lang="en-US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Lier les événements de clic des boutons aux fonctions de rappel</a:t>
            </a:r>
          </a:p>
          <a:p>
            <a:pPr>
              <a:lnSpc>
                <a:spcPct val="108333"/>
              </a:lnSpc>
            </a:pPr>
            <a:r>
              <a:rPr lang="en-US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Mettre à jour les informations de l'interface pour la première fois</a:t>
            </a:r>
          </a:p>
          <a:p>
            <a:pPr>
              <a:lnSpc>
                <a:spcPct val="108333"/>
              </a:lnSpc>
            </a:pPr>
            <a:endParaRPr lang="en-US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08333"/>
              </a:lnSpc>
            </a:pPr>
            <a:endParaRPr lang="en-US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667500" y="2095500"/>
            <a:ext cx="5524500" cy="7620000"/>
          </a:xfrm>
          <a:prstGeom prst="roundRect">
            <a:avLst>
              <a:gd name="adj" fmla="val 413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762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sp>
        <p:nvSpPr>
          <p:cNvPr id="12" name="AutoShape 12"/>
          <p:cNvSpPr/>
          <p:nvPr/>
        </p:nvSpPr>
        <p:spPr>
          <a:xfrm>
            <a:off x="6667500" y="2095500"/>
            <a:ext cx="5524500" cy="114300"/>
          </a:xfrm>
          <a:prstGeom prst="roundRect">
            <a:avLst>
              <a:gd name="adj" fmla="val 20000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48500" y="24765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810500" y="2476500"/>
            <a:ext cx="4000500" cy="666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1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syncControllerFromUi()</a:t>
            </a:r>
            <a:endParaRPr lang="en-US" sz="1650"/>
          </a:p>
        </p:txBody>
      </p:sp>
      <p:sp>
        <p:nvSpPr>
          <p:cNvPr id="15" name="AutoShape 15"/>
          <p:cNvSpPr/>
          <p:nvPr/>
        </p:nvSpPr>
        <p:spPr>
          <a:xfrm>
            <a:off x="7048500" y="3238500"/>
            <a:ext cx="476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500" i="1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Fonction "pont" qui écrit les paramètres de vent modifiés en temps réel dans l'interface dans le noyau du système de simulation.</a:t>
            </a:r>
            <a:endParaRPr lang="en-US" sz="1650"/>
          </a:p>
        </p:txBody>
      </p:sp>
      <p:sp>
        <p:nvSpPr>
          <p:cNvPr id="16" name="AutoShape 16"/>
          <p:cNvSpPr/>
          <p:nvPr/>
        </p:nvSpPr>
        <p:spPr>
          <a:xfrm>
            <a:off x="7048500" y="4191000"/>
            <a:ext cx="4762500" cy="4191000"/>
          </a:xfrm>
          <a:prstGeom prst="roundRect">
            <a:avLst>
              <a:gd name="adj" fmla="val 2727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sp>
        <p:nvSpPr>
          <p:cNvPr id="17" name="AutoShape 17"/>
          <p:cNvSpPr/>
          <p:nvPr/>
        </p:nvSpPr>
        <p:spPr>
          <a:xfrm>
            <a:off x="7239000" y="4381500"/>
            <a:ext cx="43815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5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Vider le cache de données de vitesse du vent existant dans le contrôleur</a:t>
            </a:r>
            <a:endParaRPr lang="en-US" sz="1650"/>
          </a:p>
          <a:p>
            <a:pPr>
              <a:lnSpc>
                <a:spcPct val="108333"/>
              </a:lnSpc>
            </a:pPr>
            <a:r>
              <a:rPr lang="en-US" sz="15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Parcourir les curseurs UI, lire les valeurs Speed/Angle</a:t>
            </a:r>
          </a:p>
          <a:p>
            <a:pPr>
              <a:lnSpc>
                <a:spcPct val="108333"/>
              </a:lnSpc>
            </a:pPr>
            <a:r>
              <a:rPr lang="en-US" sz="15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Vérifier la validité et la plage des paramètres d'entrée</a:t>
            </a:r>
          </a:p>
          <a:p>
            <a:pPr>
              <a:lnSpc>
                <a:spcPct val="108333"/>
              </a:lnSpc>
            </a:pPr>
            <a:r>
              <a:rPr lang="en-US" sz="15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Appeler l'API pour injecter par lots les nouveaux paramètres dans le noyau pour le calcul</a:t>
            </a:r>
          </a:p>
        </p:txBody>
      </p:sp>
      <p:sp>
        <p:nvSpPr>
          <p:cNvPr id="18" name="AutoShape 18"/>
          <p:cNvSpPr/>
          <p:nvPr/>
        </p:nvSpPr>
        <p:spPr>
          <a:xfrm>
            <a:off x="12763500" y="2095500"/>
            <a:ext cx="5524500" cy="7620000"/>
          </a:xfrm>
          <a:prstGeom prst="roundRect">
            <a:avLst>
              <a:gd name="adj" fmla="val 413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762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sp>
        <p:nvSpPr>
          <p:cNvPr id="19" name="AutoShape 19"/>
          <p:cNvSpPr/>
          <p:nvPr/>
        </p:nvSpPr>
        <p:spPr>
          <a:xfrm>
            <a:off x="12763500" y="2095500"/>
            <a:ext cx="5524500" cy="114300"/>
          </a:xfrm>
          <a:prstGeom prst="roundRect">
            <a:avLst>
              <a:gd name="adj" fmla="val 20000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144500" y="2476500"/>
            <a:ext cx="609600" cy="609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3906500" y="2476500"/>
            <a:ext cx="4000500" cy="666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1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updateResultantLabel()</a:t>
            </a:r>
            <a:endParaRPr lang="en-US" sz="1650"/>
          </a:p>
        </p:txBody>
      </p:sp>
      <p:sp>
        <p:nvSpPr>
          <p:cNvPr id="22" name="AutoShape 22"/>
          <p:cNvSpPr/>
          <p:nvPr/>
        </p:nvSpPr>
        <p:spPr>
          <a:xfrm>
            <a:off x="13144500" y="3238500"/>
            <a:ext cx="476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500" i="1">
                <a:solidFill>
                  <a:srgbClr val="777777"/>
                </a:solidFill>
                <a:latin typeface="Noto Sans SC"/>
                <a:ea typeface="Noto Sans SC"/>
                <a:cs typeface="Noto Sans SC"/>
                <a:sym typeface="Noto Sans SC"/>
              </a:rPr>
              <a:t>Responsable de renvoyer et d'afficher en temps réel le résultat du "vent resultant" après le calcul de simulation sur l'étiquette de l'interface.</a:t>
            </a:r>
            <a:endParaRPr lang="en-US" sz="1650"/>
          </a:p>
        </p:txBody>
      </p:sp>
      <p:sp>
        <p:nvSpPr>
          <p:cNvPr id="23" name="AutoShape 23"/>
          <p:cNvSpPr/>
          <p:nvPr/>
        </p:nvSpPr>
        <p:spPr>
          <a:xfrm>
            <a:off x="13144500" y="4191000"/>
            <a:ext cx="4762500" cy="4191000"/>
          </a:xfrm>
          <a:prstGeom prst="roundRect">
            <a:avLst>
              <a:gd name="adj" fmla="val 2727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sp>
        <p:nvSpPr>
          <p:cNvPr id="24" name="AutoShape 24"/>
          <p:cNvSpPr/>
          <p:nvPr/>
        </p:nvSpPr>
        <p:spPr>
          <a:xfrm>
            <a:off x="13335000" y="4381500"/>
            <a:ext cx="43815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en-US" sz="15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Affiche le vent resultant après la superposition de tous les vents.</a:t>
            </a:r>
            <a:endParaRPr lang="en-US" sz="1650"/>
          </a:p>
          <a:p>
            <a:pPr>
              <a:lnSpc>
                <a:spcPct val="108333"/>
              </a:lnSpc>
            </a:pPr>
            <a:r>
              <a:rPr lang="en-US" sz="15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Le programme obtient du contrôleur :</a:t>
            </a:r>
          </a:p>
          <a:p>
            <a:pPr>
              <a:lnSpc>
                <a:spcPct val="108333"/>
              </a:lnSpc>
            </a:pPr>
            <a:r>
              <a:rPr lang="en-US" sz="15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resultantSpeed()</a:t>
            </a:r>
          </a:p>
          <a:p>
            <a:pPr>
              <a:lnSpc>
                <a:spcPct val="108333"/>
              </a:lnSpc>
            </a:pPr>
            <a:r>
              <a:rPr lang="en-US" sz="15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resultantAngleDeg()</a:t>
            </a:r>
          </a:p>
          <a:p>
            <a:pPr>
              <a:lnSpc>
                <a:spcPct val="108333"/>
              </a:lnSpc>
            </a:pPr>
            <a:r>
              <a:rPr lang="en-US" sz="15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puis génère le texte :</a:t>
            </a:r>
          </a:p>
          <a:p>
            <a:pPr>
              <a:lnSpc>
                <a:spcPct val="108333"/>
              </a:lnSpc>
            </a:pPr>
            <a:r>
              <a:rPr lang="en-US" sz="15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Vent resultant : speed=... angle=...</a:t>
            </a:r>
          </a:p>
          <a:p>
            <a:pPr>
              <a:lnSpc>
                <a:spcPct val="108333"/>
              </a:lnSpc>
            </a:pPr>
            <a:r>
              <a:rPr lang="en-US" sz="15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et met à jour le QLabel.</a:t>
            </a:r>
          </a:p>
          <a:p>
            <a:pPr>
              <a:lnSpc>
                <a:spcPct val="108333"/>
              </a:lnSpc>
            </a:pPr>
            <a:r>
              <a:rPr lang="en-US" sz="15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Ainsi, l'utilisateur peut clairement voir l'effet final du champ de vent actuel.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94FB6BE-73C6-472B-BF36-1DCFFE5AF49E}"/>
              </a:ext>
            </a:extLst>
          </p:cNvPr>
          <p:cNvSpPr txBox="1"/>
          <p:nvPr/>
        </p:nvSpPr>
        <p:spPr>
          <a:xfrm>
            <a:off x="17297400" y="9508671"/>
            <a:ext cx="819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13</a:t>
            </a:r>
            <a:endParaRPr lang="zh-CN" altLang="en-US" sz="2000" dirty="0"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0287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5250" tIns="95250" rIns="95250" bIns="95250" rtlCol="0" anchor="ctr"/>
          <a:lstStyle/>
          <a:p>
            <a:pPr algn="ctr">
              <a:defRPr/>
            </a:pPr>
            <a:endParaRPr sz="2700"/>
          </a:p>
        </p:txBody>
      </p:sp>
      <p:sp>
        <p:nvSpPr>
          <p:cNvPr id="3" name="AutoShape 3"/>
          <p:cNvSpPr/>
          <p:nvPr/>
        </p:nvSpPr>
        <p:spPr>
          <a:xfrm>
            <a:off x="1143000" y="952500"/>
            <a:ext cx="160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48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Variables Membres Clés de SimulationController</a:t>
            </a:r>
            <a:endParaRPr lang="en-US" sz="1650"/>
          </a:p>
        </p:txBody>
      </p:sp>
      <p:sp>
        <p:nvSpPr>
          <p:cNvPr id="4" name="AutoShape 4"/>
          <p:cNvSpPr/>
          <p:nvPr/>
        </p:nvSpPr>
        <p:spPr>
          <a:xfrm>
            <a:off x="1143000" y="1809750"/>
            <a:ext cx="16002000" cy="476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Analyse des Cinq Composants Core dans le Contrôleur de Simulation</a:t>
            </a:r>
            <a:endParaRPr lang="en-US" sz="1650"/>
          </a:p>
        </p:txBody>
      </p:sp>
      <p:sp>
        <p:nvSpPr>
          <p:cNvPr id="5" name="AutoShape 5"/>
          <p:cNvSpPr/>
          <p:nvPr/>
        </p:nvSpPr>
        <p:spPr>
          <a:xfrm>
            <a:off x="762000" y="2476500"/>
            <a:ext cx="5334000" cy="36195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sp>
        <p:nvSpPr>
          <p:cNvPr id="6" name="AutoShape 6"/>
          <p:cNvSpPr/>
          <p:nvPr/>
        </p:nvSpPr>
        <p:spPr>
          <a:xfrm>
            <a:off x="1143000" y="2857500"/>
            <a:ext cx="1066800" cy="1066800"/>
          </a:xfrm>
          <a:prstGeom prst="ellipse">
            <a:avLst/>
          </a:prstGeom>
          <a:solidFill>
            <a:srgbClr val="00A99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71600" y="30861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476500" y="2762250"/>
            <a:ext cx="342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400" b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Smoke smoke_</a:t>
            </a:r>
            <a:endParaRPr lang="en-US" sz="1650"/>
          </a:p>
        </p:txBody>
      </p:sp>
      <p:sp>
        <p:nvSpPr>
          <p:cNvPr id="9" name="AutoShape 9"/>
          <p:cNvSpPr/>
          <p:nvPr/>
        </p:nvSpPr>
        <p:spPr>
          <a:xfrm>
            <a:off x="2476500" y="3429000"/>
            <a:ext cx="342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08333"/>
              </a:lnSpc>
              <a:defRPr/>
            </a:pPr>
            <a:r>
              <a:rPr lang="en-US" sz="15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Nature :</a:t>
            </a:r>
            <a:r>
              <a:rPr lang="en-US" sz="15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Grille 2D stockant la concentration de fumée</a:t>
            </a:r>
            <a:endParaRPr lang="en-US" sz="1650"/>
          </a:p>
          <a:p>
            <a:pPr>
              <a:lnSpc>
                <a:spcPct val="108333"/>
              </a:lnSpc>
            </a:pPr>
            <a:r>
              <a:rPr lang="en-US" sz="15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Signification :</a:t>
            </a:r>
            <a:r>
              <a:rPr lang="en-US" sz="15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Objet de données central de la simulation, porteur de toutes les variations physiques.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858000" y="2476500"/>
            <a:ext cx="5334000" cy="36195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sp>
        <p:nvSpPr>
          <p:cNvPr id="11" name="AutoShape 11"/>
          <p:cNvSpPr/>
          <p:nvPr/>
        </p:nvSpPr>
        <p:spPr>
          <a:xfrm>
            <a:off x="7239000" y="2857500"/>
            <a:ext cx="1066800" cy="1066800"/>
          </a:xfrm>
          <a:prstGeom prst="ellipse">
            <a:avLst/>
          </a:prstGeom>
          <a:solidFill>
            <a:srgbClr val="00A99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67600" y="30861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572500" y="2762250"/>
            <a:ext cx="342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400" b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AdvectionSolver</a:t>
            </a:r>
            <a:endParaRPr lang="en-US" sz="1650"/>
          </a:p>
        </p:txBody>
      </p:sp>
      <p:sp>
        <p:nvSpPr>
          <p:cNvPr id="14" name="AutoShape 14"/>
          <p:cNvSpPr/>
          <p:nvPr/>
        </p:nvSpPr>
        <p:spPr>
          <a:xfrm>
            <a:off x="8572500" y="3429000"/>
            <a:ext cx="342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08333"/>
              </a:lnSpc>
              <a:defRPr/>
            </a:pPr>
            <a:r>
              <a:rPr lang="en-US" sz="15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Nature :</a:t>
            </a:r>
            <a:r>
              <a:rPr lang="en-US" sz="15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Module central exécutant les calculs numériques</a:t>
            </a:r>
            <a:endParaRPr lang="en-US" sz="1650"/>
          </a:p>
          <a:p>
            <a:pPr>
              <a:lnSpc>
                <a:spcPct val="108333"/>
              </a:lnSpc>
            </a:pPr>
            <a:r>
              <a:rPr lang="en-US" sz="15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Signification :</a:t>
            </a:r>
            <a:r>
              <a:rPr lang="en-US" sz="15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"Moteur de calcul" du système de simulation, responsable de la mise à jour de l'état de la fumée.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62000" y="6477000"/>
            <a:ext cx="5334000" cy="36195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sp>
        <p:nvSpPr>
          <p:cNvPr id="16" name="AutoShape 16"/>
          <p:cNvSpPr/>
          <p:nvPr/>
        </p:nvSpPr>
        <p:spPr>
          <a:xfrm>
            <a:off x="1143000" y="6858000"/>
            <a:ext cx="1066800" cy="1066800"/>
          </a:xfrm>
          <a:prstGeom prst="ellipse">
            <a:avLst/>
          </a:prstGeom>
          <a:solidFill>
            <a:srgbClr val="00A99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71600" y="7086600"/>
            <a:ext cx="609600" cy="609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2476500" y="6762750"/>
            <a:ext cx="342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400" b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HeatMapWidget* view_</a:t>
            </a:r>
            <a:endParaRPr lang="en-US" sz="1650"/>
          </a:p>
        </p:txBody>
      </p:sp>
      <p:sp>
        <p:nvSpPr>
          <p:cNvPr id="19" name="AutoShape 19"/>
          <p:cNvSpPr/>
          <p:nvPr/>
        </p:nvSpPr>
        <p:spPr>
          <a:xfrm>
            <a:off x="2476500" y="7429500"/>
            <a:ext cx="342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08333"/>
              </a:lnSpc>
              <a:defRPr/>
            </a:pPr>
            <a:r>
              <a:rPr lang="en-US" sz="15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Nature :</a:t>
            </a:r>
            <a:r>
              <a:rPr lang="en-US" sz="15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Pointeur d'interface vers la fenêtre d'affichage de la carte thermique.</a:t>
            </a:r>
            <a:endParaRPr lang="en-US" sz="1650"/>
          </a:p>
          <a:p>
            <a:pPr>
              <a:lnSpc>
                <a:spcPct val="108333"/>
              </a:lnSpc>
            </a:pPr>
            <a:r>
              <a:rPr lang="en-US" sz="15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Signification :</a:t>
            </a:r>
            <a:r>
              <a:rPr lang="en-US" sz="15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Terminal de sortie de la visualisation des résultats du calcul, reliant les données à l'interface.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858000" y="6477000"/>
            <a:ext cx="5334000" cy="36195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sp>
        <p:nvSpPr>
          <p:cNvPr id="21" name="AutoShape 21"/>
          <p:cNvSpPr/>
          <p:nvPr/>
        </p:nvSpPr>
        <p:spPr>
          <a:xfrm>
            <a:off x="7239000" y="6858000"/>
            <a:ext cx="1066800" cy="1066800"/>
          </a:xfrm>
          <a:prstGeom prst="ellipse">
            <a:avLst/>
          </a:prstGeom>
          <a:solidFill>
            <a:srgbClr val="00A99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67600" y="7086600"/>
            <a:ext cx="609600" cy="609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8572500" y="6762750"/>
            <a:ext cx="342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400" b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QTimer timer_</a:t>
            </a:r>
            <a:endParaRPr lang="en-US" sz="1650"/>
          </a:p>
        </p:txBody>
      </p:sp>
      <p:sp>
        <p:nvSpPr>
          <p:cNvPr id="24" name="AutoShape 24"/>
          <p:cNvSpPr/>
          <p:nvPr/>
        </p:nvSpPr>
        <p:spPr>
          <a:xfrm>
            <a:off x="8572500" y="7429500"/>
            <a:ext cx="342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08333"/>
              </a:lnSpc>
              <a:defRPr/>
            </a:pPr>
            <a:r>
              <a:rPr lang="en-US" sz="15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Nature :</a:t>
            </a:r>
            <a:r>
              <a:rPr lang="en-US" sz="15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Objet timer haute précision basé sur le framework Qt.</a:t>
            </a:r>
            <a:endParaRPr lang="en-US" sz="1650"/>
          </a:p>
          <a:p>
            <a:pPr>
              <a:lnSpc>
                <a:spcPct val="108333"/>
              </a:lnSpc>
            </a:pPr>
            <a:r>
              <a:rPr lang="en-US" sz="15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Signification :</a:t>
            </a:r>
            <a:r>
              <a:rPr lang="en-US" sz="15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"Pilote temporel" du système, déclenchant périodiquement tick() pour avancer la simulation.</a:t>
            </a:r>
          </a:p>
        </p:txBody>
      </p:sp>
      <p:sp>
        <p:nvSpPr>
          <p:cNvPr id="25" name="AutoShape 25"/>
          <p:cNvSpPr/>
          <p:nvPr/>
        </p:nvSpPr>
        <p:spPr>
          <a:xfrm>
            <a:off x="12954000" y="2476500"/>
            <a:ext cx="5334000" cy="36195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sp>
        <p:nvSpPr>
          <p:cNvPr id="26" name="AutoShape 26"/>
          <p:cNvSpPr/>
          <p:nvPr/>
        </p:nvSpPr>
        <p:spPr>
          <a:xfrm>
            <a:off x="13335000" y="2857500"/>
            <a:ext cx="1066800" cy="1066800"/>
          </a:xfrm>
          <a:prstGeom prst="ellipse">
            <a:avLst/>
          </a:prstGeom>
          <a:solidFill>
            <a:srgbClr val="00A99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563600" y="3086100"/>
            <a:ext cx="609600" cy="6096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14668500" y="2762250"/>
            <a:ext cx="342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400" b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std::vector winds_</a:t>
            </a:r>
            <a:endParaRPr lang="en-US" sz="1650"/>
          </a:p>
        </p:txBody>
      </p:sp>
      <p:sp>
        <p:nvSpPr>
          <p:cNvPr id="29" name="AutoShape 29"/>
          <p:cNvSpPr/>
          <p:nvPr/>
        </p:nvSpPr>
        <p:spPr>
          <a:xfrm>
            <a:off x="14668500" y="3429000"/>
            <a:ext cx="342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08333"/>
              </a:lnSpc>
              <a:defRPr/>
            </a:pPr>
            <a:r>
              <a:rPr lang="en-US" sz="15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Nature :</a:t>
            </a:r>
            <a:r>
              <a:rPr lang="en-US" sz="15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Conteneur de tableau stockant tous les objets vents</a:t>
            </a:r>
            <a:endParaRPr lang="en-US" sz="1650"/>
          </a:p>
          <a:p>
            <a:pPr>
              <a:lnSpc>
                <a:spcPct val="108333"/>
              </a:lnSpc>
            </a:pPr>
            <a:r>
              <a:rPr lang="en-US" sz="15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Signification :</a:t>
            </a:r>
            <a:r>
              <a:rPr lang="en-US" sz="15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Prend en charge la superposition multiple de vents, calcule le champ de vents combiné pour propulser la diffusion de la fumée.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8583443-D45F-47BC-9B82-6C6F52AB3DE8}"/>
              </a:ext>
            </a:extLst>
          </p:cNvPr>
          <p:cNvSpPr txBox="1"/>
          <p:nvPr/>
        </p:nvSpPr>
        <p:spPr>
          <a:xfrm>
            <a:off x="17297400" y="9508671"/>
            <a:ext cx="819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14</a:t>
            </a:r>
            <a:endParaRPr lang="zh-CN" altLang="en-US" sz="2000" dirty="0"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028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5250" tIns="95250" rIns="95250" bIns="95250" rtlCol="0" anchor="ctr"/>
          <a:lstStyle/>
          <a:p>
            <a:pPr algn="ctr">
              <a:defRPr/>
            </a:pPr>
            <a:endParaRPr sz="2700"/>
          </a:p>
        </p:txBody>
      </p:sp>
      <p:sp>
        <p:nvSpPr>
          <p:cNvPr id="3" name="AutoShape 3"/>
          <p:cNvSpPr/>
          <p:nvPr/>
        </p:nvSpPr>
        <p:spPr>
          <a:xfrm>
            <a:off x="1143000" y="952500"/>
            <a:ext cx="160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360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Exécution des Fonctions Core de SimulationController : Comment le Système de Simulation Fonctionne</a:t>
            </a:r>
            <a:endParaRPr lang="en-US" sz="1650"/>
          </a:p>
        </p:txBody>
      </p:sp>
      <p:sp>
        <p:nvSpPr>
          <p:cNvPr id="4" name="AutoShape 4"/>
          <p:cNvSpPr/>
          <p:nvPr/>
        </p:nvSpPr>
        <p:spPr>
          <a:xfrm>
            <a:off x="952500" y="2286000"/>
            <a:ext cx="5334000" cy="7239000"/>
          </a:xfrm>
          <a:prstGeom prst="roundRect">
            <a:avLst>
              <a:gd name="adj" fmla="val 428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sp>
        <p:nvSpPr>
          <p:cNvPr id="5" name="AutoShape 5"/>
          <p:cNvSpPr/>
          <p:nvPr/>
        </p:nvSpPr>
        <p:spPr>
          <a:xfrm>
            <a:off x="952500" y="2286000"/>
            <a:ext cx="5334000" cy="1143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33500" y="2762250"/>
            <a:ext cx="762000" cy="762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286000" y="2762250"/>
            <a:ext cx="361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700" b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setup()</a:t>
            </a:r>
            <a:r>
              <a:rPr lang="en-US" sz="195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Initialisation du Système</a:t>
            </a:r>
            <a:endParaRPr lang="en-US" sz="1650"/>
          </a:p>
        </p:txBody>
      </p:sp>
      <p:sp>
        <p:nvSpPr>
          <p:cNvPr id="8" name="AutoShape 8"/>
          <p:cNvSpPr/>
          <p:nvPr/>
        </p:nvSpPr>
        <p:spPr>
          <a:xfrm>
            <a:off x="1333500" y="3810000"/>
            <a:ext cx="4572000" cy="3619500"/>
          </a:xfrm>
          <a:prstGeom prst="roundRect">
            <a:avLst>
              <a:gd name="adj" fmla="val 4210"/>
            </a:avLst>
          </a:prstGeom>
          <a:solidFill>
            <a:srgbClr val="F0F9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sp>
        <p:nvSpPr>
          <p:cNvPr id="9" name="AutoShape 9"/>
          <p:cNvSpPr/>
          <p:nvPr/>
        </p:nvSpPr>
        <p:spPr>
          <a:xfrm>
            <a:off x="1524000" y="4000500"/>
            <a:ext cx="4191000" cy="323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08333"/>
              </a:lnSpc>
              <a:defRPr/>
            </a:pPr>
            <a:r>
              <a:rPr lang="en-US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💡 Rôle Principal</a:t>
            </a:r>
            <a:endParaRPr lang="en-US" sz="1650"/>
          </a:p>
          <a:p>
            <a:pPr>
              <a:lnSpc>
                <a:spcPct val="108333"/>
              </a:lnSpc>
            </a:pPr>
            <a:r>
              <a:rPr lang="en-US" sz="165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Construction de la scène de simulation au démarrage, configuration de base de l'environnement et des paramètres.</a:t>
            </a:r>
          </a:p>
          <a:p>
            <a:pPr>
              <a:lnSpc>
                <a:spcPct val="108333"/>
              </a:lnSpc>
            </a:pPr>
            <a:r>
              <a:rPr lang="en-US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📋 Étapes Clés</a:t>
            </a:r>
          </a:p>
          <a:p>
            <a:pPr>
              <a:lnSpc>
                <a:spcPct val="108333"/>
              </a:lnSpc>
            </a:pPr>
            <a:r>
              <a:rPr lang="en-US" sz="165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1. Initialiser la grille de fumée et le solveur numérique</a:t>
            </a:r>
            <a:br>
              <a:rPr lang="en-US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5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2. Configurer la source de cheminée (position/intensité)</a:t>
            </a:r>
            <a:br>
              <a:rPr lang="en-US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5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3. Définir les paramètres du champ de vent par défaut</a:t>
            </a:r>
            <a:br>
              <a:rPr lang="en-US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5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4. Appeler reset() pour générer la première image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333500" y="7620000"/>
            <a:ext cx="4572000" cy="1524000"/>
          </a:xfrm>
          <a:prstGeom prst="roundRect">
            <a:avLst>
              <a:gd name="adj" fmla="val 10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sp>
        <p:nvSpPr>
          <p:cNvPr id="11" name="AutoShape 11"/>
          <p:cNvSpPr/>
          <p:nvPr/>
        </p:nvSpPr>
        <p:spPr>
          <a:xfrm>
            <a:off x="1524000" y="7772400"/>
            <a:ext cx="4191000" cy="121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50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smoke_.initialize(220,220)</a:t>
            </a:r>
            <a:br>
              <a:rPr lang="en-US" sz="150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50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solver_.initialize(nx, ny)</a:t>
            </a:r>
            <a:br>
              <a:rPr lang="en-US" sz="150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50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w.set(0.35,180.0)</a:t>
            </a:r>
            <a:endParaRPr lang="en-US" sz="1650"/>
          </a:p>
        </p:txBody>
      </p:sp>
      <p:sp>
        <p:nvSpPr>
          <p:cNvPr id="12" name="AutoShape 12"/>
          <p:cNvSpPr/>
          <p:nvPr/>
        </p:nvSpPr>
        <p:spPr>
          <a:xfrm>
            <a:off x="6477000" y="2286000"/>
            <a:ext cx="5334000" cy="7239000"/>
          </a:xfrm>
          <a:prstGeom prst="roundRect">
            <a:avLst>
              <a:gd name="adj" fmla="val 428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sp>
        <p:nvSpPr>
          <p:cNvPr id="13" name="AutoShape 13"/>
          <p:cNvSpPr/>
          <p:nvPr/>
        </p:nvSpPr>
        <p:spPr>
          <a:xfrm>
            <a:off x="6477000" y="2286000"/>
            <a:ext cx="5334000" cy="1143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58000" y="2762250"/>
            <a:ext cx="762000" cy="762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810500" y="2762250"/>
            <a:ext cx="361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700" b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Control</a:t>
            </a:r>
            <a:r>
              <a:rPr lang="en-US" sz="195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Contrôle de Démarrage/Pause</a:t>
            </a:r>
            <a:endParaRPr lang="en-US" sz="1650"/>
          </a:p>
        </p:txBody>
      </p:sp>
      <p:sp>
        <p:nvSpPr>
          <p:cNvPr id="16" name="AutoShape 16"/>
          <p:cNvSpPr/>
          <p:nvPr/>
        </p:nvSpPr>
        <p:spPr>
          <a:xfrm>
            <a:off x="6858000" y="3810000"/>
            <a:ext cx="4572000" cy="3619500"/>
          </a:xfrm>
          <a:prstGeom prst="roundRect">
            <a:avLst>
              <a:gd name="adj" fmla="val 4210"/>
            </a:avLst>
          </a:prstGeom>
          <a:solidFill>
            <a:srgbClr val="F0F9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sp>
        <p:nvSpPr>
          <p:cNvPr id="17" name="AutoShape 17"/>
          <p:cNvSpPr/>
          <p:nvPr/>
        </p:nvSpPr>
        <p:spPr>
          <a:xfrm>
            <a:off x="7048500" y="4000500"/>
            <a:ext cx="4191000" cy="323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08333"/>
              </a:lnSpc>
              <a:defRPr/>
            </a:pPr>
            <a:r>
              <a:rPr lang="en-US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⏱️ </a:t>
            </a:r>
            <a:r>
              <a:rPr lang="en-US" b="1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Mécanisme</a:t>
            </a:r>
            <a:r>
              <a:rPr lang="en-US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Principal</a:t>
            </a:r>
            <a:endParaRPr lang="en-US" sz="1650" dirty="0"/>
          </a:p>
          <a:p>
            <a:pPr>
              <a:lnSpc>
                <a:spcPct val="108333"/>
              </a:lnSpc>
            </a:pPr>
            <a:r>
              <a:rPr lang="en-US" sz="165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Contrôle</a:t>
            </a: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de la </a:t>
            </a:r>
            <a:r>
              <a:rPr lang="en-US" sz="165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fréquence</a:t>
            </a: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5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d'appel</a:t>
            </a: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de la </a:t>
            </a:r>
            <a:r>
              <a:rPr lang="en-US" sz="165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fonction</a:t>
            </a: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tick() via un </a:t>
            </a:r>
            <a:r>
              <a:rPr lang="en-US" sz="165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minuteur</a:t>
            </a: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(Timer), </a:t>
            </a:r>
            <a:r>
              <a:rPr lang="en-US" sz="165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pont</a:t>
            </a: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entre </a:t>
            </a:r>
            <a:r>
              <a:rPr lang="en-US" sz="165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l'action</a:t>
            </a: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5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utilisateur</a:t>
            </a: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et la boucle </a:t>
            </a:r>
            <a:r>
              <a:rPr lang="en-US" sz="165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principale</a:t>
            </a: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</a:p>
          <a:p>
            <a:pPr>
              <a:lnSpc>
                <a:spcPct val="108333"/>
              </a:lnSpc>
            </a:pPr>
            <a:r>
              <a:rPr lang="en-US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⚡ </a:t>
            </a:r>
            <a:r>
              <a:rPr lang="en-US" b="1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Logique</a:t>
            </a:r>
            <a:r>
              <a:rPr lang="en-US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de </a:t>
            </a:r>
            <a:r>
              <a:rPr lang="en-US" b="1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Contrôle</a:t>
            </a:r>
            <a:endParaRPr lang="en-US" b="1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08333"/>
              </a:lnSpc>
            </a:pP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Start: </a:t>
            </a:r>
            <a:r>
              <a:rPr lang="en-US" sz="165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Démarrer</a:t>
            </a: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la </a:t>
            </a:r>
            <a:r>
              <a:rPr lang="en-US" sz="165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tâche</a:t>
            </a: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en-US" sz="165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intervalle</a:t>
            </a: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20ms, </a:t>
            </a:r>
            <a:r>
              <a:rPr lang="en-US" sz="165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appel</a:t>
            </a: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tick()</a:t>
            </a:r>
            <a:br>
              <a:rPr lang="en-US" sz="2400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Pause: </a:t>
            </a:r>
            <a:r>
              <a:rPr lang="en-US" sz="165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Arrêter</a:t>
            </a: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la </a:t>
            </a:r>
            <a:r>
              <a:rPr lang="en-US" sz="165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tâche</a:t>
            </a: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, pause tick(), image gelée</a:t>
            </a:r>
          </a:p>
        </p:txBody>
      </p:sp>
      <p:sp>
        <p:nvSpPr>
          <p:cNvPr id="18" name="AutoShape 18"/>
          <p:cNvSpPr/>
          <p:nvPr/>
        </p:nvSpPr>
        <p:spPr>
          <a:xfrm>
            <a:off x="6858000" y="7620000"/>
            <a:ext cx="4572000" cy="1524000"/>
          </a:xfrm>
          <a:prstGeom prst="roundRect">
            <a:avLst>
              <a:gd name="adj" fmla="val 10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sp>
        <p:nvSpPr>
          <p:cNvPr id="19" name="AutoShape 19"/>
          <p:cNvSpPr/>
          <p:nvPr/>
        </p:nvSpPr>
        <p:spPr>
          <a:xfrm>
            <a:off x="7048500" y="7772400"/>
            <a:ext cx="4191000" cy="121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50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// Start: 20ms/fois</a:t>
            </a:r>
            <a:br>
              <a:rPr lang="en-US" sz="150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50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timer_.start(20);</a:t>
            </a:r>
            <a:br>
              <a:rPr lang="en-US" sz="150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50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// Pause</a:t>
            </a:r>
            <a:br>
              <a:rPr lang="en-US" sz="150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50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timer_.stop();</a:t>
            </a:r>
            <a:endParaRPr lang="en-US" sz="1650"/>
          </a:p>
        </p:txBody>
      </p:sp>
      <p:sp>
        <p:nvSpPr>
          <p:cNvPr id="20" name="AutoShape 20"/>
          <p:cNvSpPr/>
          <p:nvPr/>
        </p:nvSpPr>
        <p:spPr>
          <a:xfrm>
            <a:off x="12001500" y="2286000"/>
            <a:ext cx="5334000" cy="7239000"/>
          </a:xfrm>
          <a:prstGeom prst="roundRect">
            <a:avLst>
              <a:gd name="adj" fmla="val 428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sp>
        <p:nvSpPr>
          <p:cNvPr id="21" name="AutoShape 21"/>
          <p:cNvSpPr/>
          <p:nvPr/>
        </p:nvSpPr>
        <p:spPr>
          <a:xfrm>
            <a:off x="12001500" y="2286000"/>
            <a:ext cx="5334000" cy="1143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382500" y="2762250"/>
            <a:ext cx="762000" cy="762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3335000" y="2762250"/>
            <a:ext cx="361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700" b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tick()</a:t>
            </a:r>
            <a:r>
              <a:rPr lang="en-US" sz="195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Boucle Principale de Simulation</a:t>
            </a:r>
            <a:endParaRPr lang="en-US" sz="1650"/>
          </a:p>
        </p:txBody>
      </p:sp>
      <p:sp>
        <p:nvSpPr>
          <p:cNvPr id="24" name="AutoShape 24"/>
          <p:cNvSpPr/>
          <p:nvPr/>
        </p:nvSpPr>
        <p:spPr>
          <a:xfrm>
            <a:off x="12382500" y="3810000"/>
            <a:ext cx="4572000" cy="3619500"/>
          </a:xfrm>
          <a:prstGeom prst="roundRect">
            <a:avLst>
              <a:gd name="adj" fmla="val 4210"/>
            </a:avLst>
          </a:prstGeom>
          <a:solidFill>
            <a:srgbClr val="F0F9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/>
          </a:p>
        </p:txBody>
      </p:sp>
      <p:sp>
        <p:nvSpPr>
          <p:cNvPr id="25" name="AutoShape 25"/>
          <p:cNvSpPr/>
          <p:nvPr/>
        </p:nvSpPr>
        <p:spPr>
          <a:xfrm>
            <a:off x="12573000" y="4000500"/>
            <a:ext cx="4191000" cy="323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08333"/>
              </a:lnSpc>
              <a:defRPr/>
            </a:pPr>
            <a:r>
              <a:rPr lang="en-US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❤️ </a:t>
            </a:r>
            <a:r>
              <a:rPr lang="en-US" b="1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Cœur</a:t>
            </a:r>
            <a:r>
              <a:rPr lang="en-US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du </a:t>
            </a:r>
            <a:r>
              <a:rPr lang="en-US" b="1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Programme</a:t>
            </a:r>
            <a:endParaRPr lang="en-US" sz="1650" dirty="0"/>
          </a:p>
          <a:p>
            <a:pPr>
              <a:lnSpc>
                <a:spcPct val="108333"/>
              </a:lnSpc>
            </a:pPr>
            <a:r>
              <a:rPr lang="en-US" sz="165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Fonction</a:t>
            </a: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de pilotage </a:t>
            </a:r>
            <a:r>
              <a:rPr lang="en-US" sz="165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principale</a:t>
            </a: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pendant la simulation, </a:t>
            </a:r>
            <a:r>
              <a:rPr lang="en-US" sz="165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exécutée</a:t>
            </a: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5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automatiquement</a:t>
            </a: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5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toutes</a:t>
            </a: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les 20ms, </a:t>
            </a:r>
            <a:r>
              <a:rPr lang="en-US" sz="165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calcul</a:t>
            </a: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et </a:t>
            </a:r>
            <a:r>
              <a:rPr lang="en-US" sz="165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rendu</a:t>
            </a: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de la nouvelle image.</a:t>
            </a:r>
          </a:p>
          <a:p>
            <a:pPr>
              <a:lnSpc>
                <a:spcPct val="108333"/>
              </a:lnSpc>
            </a:pPr>
            <a:r>
              <a:rPr lang="en-US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🔄 </a:t>
            </a:r>
            <a:r>
              <a:rPr lang="en-US" b="1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Processus</a:t>
            </a:r>
            <a:r>
              <a:rPr lang="en-US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1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d'Exécution</a:t>
            </a:r>
            <a:endParaRPr lang="en-US" b="1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08333"/>
              </a:lnSpc>
            </a:pP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en-US" sz="165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Calculer</a:t>
            </a: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le pas de temps &amp; </a:t>
            </a:r>
            <a:r>
              <a:rPr lang="en-US" sz="165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vitesse</a:t>
            </a: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du vent </a:t>
            </a:r>
            <a:r>
              <a:rPr lang="en-US" sz="165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actuel</a:t>
            </a:r>
            <a:br>
              <a:rPr lang="en-US" sz="2400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2. </a:t>
            </a:r>
            <a:r>
              <a:rPr lang="en-US" sz="165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Mettre</a:t>
            </a: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à jour le champ de vent</a:t>
            </a:r>
            <a:br>
              <a:rPr lang="en-US" sz="2400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3. </a:t>
            </a:r>
            <a:r>
              <a:rPr lang="en-US" sz="165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Injecter</a:t>
            </a: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de la </a:t>
            </a:r>
            <a:r>
              <a:rPr lang="en-US" sz="165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fumée</a:t>
            </a: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sz="165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cheminée</a:t>
            </a: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65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particules</a:t>
            </a: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br>
              <a:rPr lang="en-US" sz="2400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4. </a:t>
            </a:r>
            <a:r>
              <a:rPr lang="en-US" sz="165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Résolution</a:t>
            </a: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numérique (advection/diffusion)</a:t>
            </a:r>
            <a:br>
              <a:rPr lang="en-US" sz="2400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5. </a:t>
            </a:r>
            <a:r>
              <a:rPr lang="en-US" sz="165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Mettre</a:t>
            </a: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à jour le temps de simulation</a:t>
            </a:r>
            <a:br>
              <a:rPr lang="en-US" sz="2400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6. </a:t>
            </a:r>
            <a:r>
              <a:rPr lang="en-US" sz="1650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Rendre</a:t>
            </a:r>
            <a:r>
              <a:rPr lang="en-US" sz="165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la nouvelle image</a:t>
            </a:r>
          </a:p>
        </p:txBody>
      </p:sp>
      <p:sp>
        <p:nvSpPr>
          <p:cNvPr id="26" name="AutoShape 26"/>
          <p:cNvSpPr/>
          <p:nvPr/>
        </p:nvSpPr>
        <p:spPr>
          <a:xfrm>
            <a:off x="12382500" y="7620000"/>
            <a:ext cx="4572000" cy="1524000"/>
          </a:xfrm>
          <a:prstGeom prst="roundRect">
            <a:avLst>
              <a:gd name="adj" fmla="val 10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700" dirty="0"/>
          </a:p>
        </p:txBody>
      </p:sp>
      <p:sp>
        <p:nvSpPr>
          <p:cNvPr id="27" name="AutoShape 27"/>
          <p:cNvSpPr/>
          <p:nvPr/>
        </p:nvSpPr>
        <p:spPr>
          <a:xfrm>
            <a:off x="12573000" y="7772400"/>
            <a:ext cx="4191000" cy="121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sz="1500" dirty="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dt = </a:t>
            </a:r>
            <a:r>
              <a:rPr lang="en-US" sz="1500" dirty="0" err="1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computeDtCFL</a:t>
            </a:r>
            <a:r>
              <a:rPr lang="en-US" sz="1500" dirty="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</a:p>
          <a:p>
            <a:pPr>
              <a:defRPr/>
            </a:pPr>
            <a:r>
              <a:rPr lang="en-US" sz="1500" dirty="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u = </a:t>
            </a:r>
            <a:r>
              <a:rPr lang="en-US" sz="1500" dirty="0" err="1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resultantU</a:t>
            </a:r>
            <a:r>
              <a:rPr lang="en-US" sz="1500" dirty="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</a:p>
          <a:p>
            <a:pPr>
              <a:defRPr/>
            </a:pPr>
            <a:r>
              <a:rPr lang="en-US" sz="1500" dirty="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w = </a:t>
            </a:r>
            <a:r>
              <a:rPr lang="en-US" sz="1500" dirty="0" err="1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resultantW</a:t>
            </a:r>
            <a:r>
              <a:rPr lang="en-US" sz="1500" dirty="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br>
              <a:rPr lang="en-US" sz="1500" dirty="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500" dirty="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smoke_.</a:t>
            </a:r>
            <a:r>
              <a:rPr lang="en-US" sz="1500" dirty="0" err="1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emitContinuous</a:t>
            </a:r>
            <a:r>
              <a:rPr lang="en-US" sz="1500" dirty="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(dt);</a:t>
            </a:r>
          </a:p>
          <a:p>
            <a:pPr>
              <a:defRPr/>
            </a:pPr>
            <a:r>
              <a:rPr lang="en-US" sz="1500" dirty="0" err="1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stepUpwind</a:t>
            </a:r>
            <a:r>
              <a:rPr lang="en-US" sz="1500" dirty="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</a:p>
          <a:p>
            <a:pPr>
              <a:defRPr/>
            </a:pPr>
            <a:r>
              <a:rPr lang="en-US" sz="1500" dirty="0" err="1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stepDiffusion</a:t>
            </a:r>
            <a:r>
              <a:rPr lang="en-US" sz="1500" dirty="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</a:p>
          <a:p>
            <a:pPr>
              <a:defRPr/>
            </a:pPr>
            <a:r>
              <a:rPr lang="en-US" sz="1500" dirty="0" err="1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tSim</a:t>
            </a:r>
            <a:r>
              <a:rPr lang="en-US" sz="1500" dirty="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_ += </a:t>
            </a:r>
            <a:r>
              <a:rPr lang="en-US" sz="1500" dirty="0" err="1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stepsPerTick</a:t>
            </a:r>
            <a:r>
              <a:rPr lang="en-US" sz="1500" dirty="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 * dt;</a:t>
            </a:r>
            <a:br>
              <a:rPr lang="en-US" sz="1500" dirty="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500" dirty="0" err="1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renderFrame</a:t>
            </a:r>
            <a:r>
              <a:rPr lang="en-US" sz="1500" dirty="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lang="en-US" sz="165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3187409-B07F-4A06-8AE2-037A2DFF070A}"/>
              </a:ext>
            </a:extLst>
          </p:cNvPr>
          <p:cNvSpPr txBox="1"/>
          <p:nvPr/>
        </p:nvSpPr>
        <p:spPr>
          <a:xfrm>
            <a:off x="17297400" y="9508671"/>
            <a:ext cx="819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15</a:t>
            </a:r>
            <a:endParaRPr lang="zh-CN" altLang="en-US" sz="2000" dirty="0"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0287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5250" tIns="95250" rIns="95250" bIns="95250" rtlCol="0" anchor="ctr"/>
          <a:lstStyle/>
          <a:p>
            <a:pPr algn="ctr">
              <a:defRPr/>
            </a:pPr>
            <a:endParaRPr sz="2700"/>
          </a:p>
        </p:txBody>
      </p:sp>
      <p:sp>
        <p:nvSpPr>
          <p:cNvPr id="3" name="AutoShape 3"/>
          <p:cNvSpPr/>
          <p:nvPr/>
        </p:nvSpPr>
        <p:spPr>
          <a:xfrm>
            <a:off x="0" y="2857500"/>
            <a:ext cx="18288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7200" b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Q&amp;R</a:t>
            </a:r>
            <a:endParaRPr lang="en-US" sz="1650"/>
          </a:p>
        </p:txBody>
      </p:sp>
      <p:sp>
        <p:nvSpPr>
          <p:cNvPr id="4" name="AutoShape 4"/>
          <p:cNvSpPr/>
          <p:nvPr/>
        </p:nvSpPr>
        <p:spPr>
          <a:xfrm>
            <a:off x="0" y="4381500"/>
            <a:ext cx="1828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12000" b="1">
                <a:solidFill>
                  <a:srgbClr val="00A99D"/>
                </a:solidFill>
                <a:latin typeface="Noto Sans SC"/>
                <a:ea typeface="Noto Sans SC"/>
                <a:cs typeface="Noto Sans SC"/>
                <a:sym typeface="Noto Sans SC"/>
              </a:rPr>
              <a:t>MERCI</a:t>
            </a:r>
            <a:endParaRPr lang="en-US" sz="1650"/>
          </a:p>
        </p:txBody>
      </p:sp>
      <p:sp>
        <p:nvSpPr>
          <p:cNvPr id="5" name="AutoShape 5"/>
          <p:cNvSpPr/>
          <p:nvPr/>
        </p:nvSpPr>
        <p:spPr>
          <a:xfrm>
            <a:off x="0" y="6667500"/>
            <a:ext cx="182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27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POUR VOTRE ATTENTION</a:t>
            </a:r>
            <a:endParaRPr lang="en-US" sz="1650"/>
          </a:p>
        </p:txBody>
      </p:sp>
      <p:sp>
        <p:nvSpPr>
          <p:cNvPr id="6" name="AutoShape 6"/>
          <p:cNvSpPr/>
          <p:nvPr/>
        </p:nvSpPr>
        <p:spPr>
          <a:xfrm>
            <a:off x="8191500" y="8001000"/>
            <a:ext cx="1905000" cy="76200"/>
          </a:xfrm>
          <a:prstGeom prst="roundRect">
            <a:avLst>
              <a:gd name="adj" fmla="val 0"/>
            </a:avLst>
          </a:prstGeom>
          <a:solidFill>
            <a:srgbClr val="00A99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5250" tIns="95250" rIns="95250" bIns="95250" rtlCol="0" anchor="ctr"/>
          <a:lstStyle/>
          <a:p>
            <a:pPr algn="ctr">
              <a:defRPr/>
            </a:pPr>
            <a:endParaRPr sz="2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1932</Words>
  <Application>Microsoft Office PowerPoint</Application>
  <PresentationFormat>自定义</PresentationFormat>
  <Paragraphs>201</Paragraphs>
  <Slides>16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Noto Sans SC</vt:lpstr>
      <vt:lpstr>Roboto Mono</vt:lpstr>
      <vt:lpstr>等线</vt:lpstr>
      <vt:lpstr>Arial</vt:lpstr>
      <vt:lpstr>Calibri</vt:lpstr>
      <vt:lpstr>Open Sans</vt:lpstr>
      <vt:lpstr>Poppins</vt:lpstr>
      <vt:lpstr>Poppins Bold</vt:lpstr>
      <vt:lpstr>Source Code Pro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Neutral Dynamic Industrial Era Presentation</dc:title>
  <cp:lastModifiedBy>智豪 张</cp:lastModifiedBy>
  <cp:revision>13</cp:revision>
  <dcterms:created xsi:type="dcterms:W3CDTF">2006-08-16T00:00:00Z</dcterms:created>
  <dcterms:modified xsi:type="dcterms:W3CDTF">2026-04-14T09:19:39Z</dcterms:modified>
  <dc:identifier>DAHFliiS-5A</dc:identifier>
</cp:coreProperties>
</file>